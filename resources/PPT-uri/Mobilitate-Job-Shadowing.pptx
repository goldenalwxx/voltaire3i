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92" d="100"/>
          <a:sy n="92" d="100"/>
        </p:scale>
        <p:origin x="307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17779" y="802298"/>
            <a:ext cx="8637073" cy="2541431"/>
          </a:xfrm>
        </p:spPr>
        <p:txBody>
          <a:bodyPr bIns="0" anchor="b">
            <a:normAutofit/>
          </a:bodyPr>
          <a:lstStyle>
            <a:lvl1pPr algn="l">
              <a:defRPr sz="6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417780" y="3531204"/>
            <a:ext cx="8637072" cy="977621"/>
          </a:xfrm>
        </p:spPr>
        <p:txBody>
          <a:bodyPr tIns="91440" bIns="91440">
            <a:normAutofit/>
          </a:bodyPr>
          <a:lstStyle>
            <a:lvl1pPr marL="0" indent="0" algn="l">
              <a:buNone/>
              <a:defRPr sz="1800" b="0" cap="all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040C8C-A4C9-4A2C-8EA1-EF9FB600CA9F}" type="datetimeFigureOut">
              <a:rPr lang="en-US" smtClean="0"/>
              <a:t>2/10/2026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416500" y="329307"/>
            <a:ext cx="4973915" cy="309201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37664" y="798973"/>
            <a:ext cx="811019" cy="503578"/>
          </a:xfrm>
        </p:spPr>
        <p:txBody>
          <a:bodyPr/>
          <a:lstStyle/>
          <a:p>
            <a:fld id="{2B2A3879-1D1D-4D78-BAED-7D867C6D88D8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2417780" y="3528542"/>
            <a:ext cx="863707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7720715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040C8C-A4C9-4A2C-8EA1-EF9FB600CA9F}" type="datetimeFigureOut">
              <a:rPr lang="en-US" smtClean="0"/>
              <a:t>2/10/2026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2A3879-1D1D-4D78-BAED-7D867C6D88D8}" type="slidenum">
              <a:rPr lang="en-US" smtClean="0"/>
              <a:t>‹#›</a:t>
            </a:fld>
            <a:endParaRPr lang="en-US"/>
          </a:p>
        </p:txBody>
      </p:sp>
      <p:cxnSp>
        <p:nvCxnSpPr>
          <p:cNvPr id="33" name="Straight Connector 32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700028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4239" y="1756130"/>
            <a:ext cx="8643154" cy="1887950"/>
          </a:xfrm>
        </p:spPr>
        <p:txBody>
          <a:bodyPr anchor="b">
            <a:normAutofit/>
          </a:bodyPr>
          <a:lstStyle>
            <a:lvl1pPr algn="l"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4239" y="3806195"/>
            <a:ext cx="8630446" cy="1012929"/>
          </a:xfrm>
        </p:spPr>
        <p:txBody>
          <a:bodyPr tIns="91440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040C8C-A4C9-4A2C-8EA1-EF9FB600CA9F}" type="datetimeFigureOut">
              <a:rPr lang="en-US" smtClean="0"/>
              <a:t>2/10/2026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2A3879-1D1D-4D78-BAED-7D867C6D88D8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454239" y="3804985"/>
            <a:ext cx="8630446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623772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9217" y="804889"/>
            <a:ext cx="9605635" cy="105930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47331" y="2010878"/>
            <a:ext cx="4645152" cy="344859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3771" y="2017343"/>
            <a:ext cx="4645152" cy="34415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040C8C-A4C9-4A2C-8EA1-EF9FB600CA9F}" type="datetimeFigureOut">
              <a:rPr lang="en-US" smtClean="0"/>
              <a:t>2/10/2026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2A3879-1D1D-4D78-BAED-7D867C6D88D8}" type="slidenum">
              <a:rPr lang="en-US" smtClean="0"/>
              <a:t>‹#›</a:t>
            </a:fld>
            <a:endParaRPr lang="en-US"/>
          </a:p>
        </p:txBody>
      </p:sp>
      <p:cxnSp>
        <p:nvCxnSpPr>
          <p:cNvPr id="35" name="Straight Connector 3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885634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7191" y="804163"/>
            <a:ext cx="9607661" cy="105631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7191" y="2019549"/>
            <a:ext cx="4645152" cy="80194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47191" y="2824269"/>
            <a:ext cx="4645152" cy="26444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12362" y="2023003"/>
            <a:ext cx="4645152" cy="80223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12362" y="2821491"/>
            <a:ext cx="4645152" cy="263737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040C8C-A4C9-4A2C-8EA1-EF9FB600CA9F}" type="datetimeFigureOut">
              <a:rPr lang="en-US" smtClean="0"/>
              <a:t>2/10/2026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2A3879-1D1D-4D78-BAED-7D867C6D88D8}" type="slidenum">
              <a:rPr lang="en-US" smtClean="0"/>
              <a:t>‹#›</a:t>
            </a:fld>
            <a:endParaRPr lang="en-US"/>
          </a:p>
        </p:txBody>
      </p:sp>
      <p:cxnSp>
        <p:nvCxnSpPr>
          <p:cNvPr id="29" name="Straight Connector 28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636689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040C8C-A4C9-4A2C-8EA1-EF9FB600CA9F}" type="datetimeFigureOut">
              <a:rPr lang="en-US" smtClean="0"/>
              <a:t>2/10/2026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2A3879-1D1D-4D78-BAED-7D867C6D88D8}" type="slidenum">
              <a:rPr lang="en-US" smtClean="0"/>
              <a:t>‹#›</a:t>
            </a:fld>
            <a:endParaRPr lang="en-US"/>
          </a:p>
        </p:txBody>
      </p:sp>
      <p:cxnSp>
        <p:nvCxnSpPr>
          <p:cNvPr id="25" name="Straight Connector 2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777165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040C8C-A4C9-4A2C-8EA1-EF9FB600CA9F}" type="datetimeFigureOut">
              <a:rPr lang="en-US" smtClean="0"/>
              <a:t>2/10/2026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2A3879-1D1D-4D78-BAED-7D867C6D88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623562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4671" y="798973"/>
            <a:ext cx="3273099" cy="2247117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43714" y="798974"/>
            <a:ext cx="6012470" cy="4658826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44671" y="3205491"/>
            <a:ext cx="3275013" cy="2248181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040C8C-A4C9-4A2C-8EA1-EF9FB600CA9F}" type="datetimeFigureOut">
              <a:rPr lang="en-US" smtClean="0"/>
              <a:t>2/10/2026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2A3879-1D1D-4D78-BAED-7D867C6D88D8}" type="slidenum">
              <a:rPr lang="en-US" smtClean="0"/>
              <a:t>‹#›</a:t>
            </a:fld>
            <a:endParaRPr lang="en-US"/>
          </a:p>
        </p:txBody>
      </p:sp>
      <p:cxnSp>
        <p:nvCxnSpPr>
          <p:cNvPr id="17" name="Straight Connector 16"/>
          <p:cNvCxnSpPr/>
          <p:nvPr/>
        </p:nvCxnSpPr>
        <p:spPr>
          <a:xfrm>
            <a:off x="1448280" y="3205491"/>
            <a:ext cx="3269490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9670869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7477387" y="482170"/>
            <a:ext cx="4074533" cy="5149101"/>
            <a:chOff x="7477387" y="482170"/>
            <a:chExt cx="4074533" cy="5149101"/>
          </a:xfrm>
        </p:grpSpPr>
        <p:sp>
          <p:nvSpPr>
            <p:cNvPr id="18" name="Rectangle 17"/>
            <p:cNvSpPr/>
            <p:nvPr/>
          </p:nvSpPr>
          <p:spPr bwMode="black">
            <a:xfrm>
              <a:off x="7477387" y="482170"/>
              <a:ext cx="4074533" cy="5149101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Rectangle 18"/>
            <p:cNvSpPr/>
            <p:nvPr/>
          </p:nvSpPr>
          <p:spPr bwMode="blackWhite">
            <a:xfrm>
              <a:off x="7790446" y="812506"/>
              <a:ext cx="3450289" cy="4466452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1206" y="1129513"/>
            <a:ext cx="5532328" cy="1830584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124389" y="1122542"/>
            <a:ext cx="2791171" cy="3866327"/>
          </a:xfrm>
          <a:solidFill>
            <a:schemeClr val="bg1">
              <a:lumMod val="8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50329" y="3145992"/>
            <a:ext cx="5524404" cy="2003742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447382" y="5469856"/>
            <a:ext cx="5527351" cy="320123"/>
          </a:xfrm>
        </p:spPr>
        <p:txBody>
          <a:bodyPr/>
          <a:lstStyle>
            <a:lvl1pPr algn="l">
              <a:defRPr/>
            </a:lvl1pPr>
          </a:lstStyle>
          <a:p>
            <a:fld id="{AC040C8C-A4C9-4A2C-8EA1-EF9FB600CA9F}" type="datetimeFigureOut">
              <a:rPr lang="en-US" smtClean="0"/>
              <a:t>2/10/2026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447382" y="318640"/>
            <a:ext cx="5541004" cy="320931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2A3879-1D1D-4D78-BAED-7D867C6D88D8}" type="slidenum">
              <a:rPr lang="en-US" smtClean="0"/>
              <a:t>‹#›</a:t>
            </a:fld>
            <a:endParaRPr lang="en-US"/>
          </a:p>
        </p:txBody>
      </p:sp>
      <p:cxnSp>
        <p:nvCxnSpPr>
          <p:cNvPr id="31" name="Straight Connector 30"/>
          <p:cNvCxnSpPr/>
          <p:nvPr/>
        </p:nvCxnSpPr>
        <p:spPr>
          <a:xfrm>
            <a:off x="1447382" y="3143605"/>
            <a:ext cx="5527351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860677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040C8C-A4C9-4A2C-8EA1-EF9FB600CA9F}" type="datetimeFigureOut">
              <a:rPr lang="en-US" smtClean="0"/>
              <a:t>2/10/2026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2A3879-1D1D-4D78-BAED-7D867C6D88D8}" type="slidenum">
              <a:rPr lang="en-US" smtClean="0"/>
              <a:t>‹#›</a:t>
            </a:fld>
            <a:endParaRPr lang="en-US"/>
          </a:p>
        </p:txBody>
      </p:sp>
      <p:cxnSp>
        <p:nvCxnSpPr>
          <p:cNvPr id="26" name="Straight Connector 25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00970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39111" y="798973"/>
            <a:ext cx="1615742" cy="465988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44672" y="798973"/>
            <a:ext cx="7828830" cy="465988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040C8C-A4C9-4A2C-8EA1-EF9FB600CA9F}" type="datetimeFigureOut">
              <a:rPr lang="en-US" smtClean="0"/>
              <a:t>2/10/2026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2A3879-1D1D-4D78-BAED-7D867C6D88D8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9439111" y="798973"/>
            <a:ext cx="0" cy="4659889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561855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51579" y="804519"/>
            <a:ext cx="9603275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1579" y="2015732"/>
            <a:ext cx="9603275" cy="34506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54138" y="330370"/>
            <a:ext cx="3500715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C040C8C-A4C9-4A2C-8EA1-EF9FB600CA9F}" type="datetimeFigureOut">
              <a:rPr lang="en-US" smtClean="0"/>
              <a:t>2/10/2026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51579" y="329307"/>
            <a:ext cx="5938836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0060" y="798973"/>
            <a:ext cx="811019" cy="50357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2800">
                <a:solidFill>
                  <a:schemeClr val="accent1"/>
                </a:solidFill>
              </a:defRPr>
            </a:lvl1pPr>
          </a:lstStyle>
          <a:p>
            <a:fld id="{2B2A3879-1D1D-4D78-BAED-7D867C6D88D8}" type="slidenum">
              <a:rPr lang="en-US" smtClean="0"/>
              <a:t>‹#›</a:t>
            </a:fld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915859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0" i="0" kern="1200" cap="all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0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8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jp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g"/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jp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g"/><Relationship Id="rId2" Type="http://schemas.openxmlformats.org/officeDocument/2006/relationships/image" Target="../media/image16.jp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g"/><Relationship Id="rId2" Type="http://schemas.openxmlformats.org/officeDocument/2006/relationships/image" Target="../media/image18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1.jpg"/><Relationship Id="rId4" Type="http://schemas.openxmlformats.org/officeDocument/2006/relationships/image" Target="../media/image20.jpe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g"/><Relationship Id="rId2" Type="http://schemas.openxmlformats.org/officeDocument/2006/relationships/image" Target="../media/image22.jp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0BC217-F4D7-4254-A95B-BE997B31DFA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4000" dirty="0">
                <a:solidFill>
                  <a:srgbClr val="FFFF00"/>
                </a:solidFill>
                <a:highlight>
                  <a:srgbClr val="000080"/>
                </a:highlight>
                <a:latin typeface="Century" panose="02040604050505020304" pitchFamily="18" charset="0"/>
                <a:cs typeface="Cavolini" panose="03000502040302020204" pitchFamily="66" charset="0"/>
              </a:rPr>
              <a:t>“Include-</a:t>
            </a:r>
            <a:r>
              <a:rPr lang="en-US" sz="4000" dirty="0" err="1">
                <a:solidFill>
                  <a:srgbClr val="FFFF00"/>
                </a:solidFill>
                <a:highlight>
                  <a:srgbClr val="000080"/>
                </a:highlight>
                <a:latin typeface="Century" panose="02040604050505020304" pitchFamily="18" charset="0"/>
                <a:cs typeface="Cavolini" panose="03000502040302020204" pitchFamily="66" charset="0"/>
              </a:rPr>
              <a:t>i</a:t>
            </a:r>
            <a:r>
              <a:rPr lang="en-US" sz="4000" dirty="0">
                <a:solidFill>
                  <a:srgbClr val="FFFF00"/>
                </a:solidFill>
                <a:highlight>
                  <a:srgbClr val="000080"/>
                </a:highlight>
                <a:latin typeface="Century" panose="02040604050505020304" pitchFamily="18" charset="0"/>
                <a:cs typeface="Cavolini" panose="03000502040302020204" pitchFamily="66" charset="0"/>
              </a:rPr>
              <a:t> pe </a:t>
            </a:r>
            <a:r>
              <a:rPr lang="en-US" sz="4000" dirty="0" err="1">
                <a:solidFill>
                  <a:srgbClr val="FFFF00"/>
                </a:solidFill>
                <a:highlight>
                  <a:srgbClr val="000080"/>
                </a:highlight>
                <a:latin typeface="Century" panose="02040604050505020304" pitchFamily="18" charset="0"/>
                <a:cs typeface="Cavolini" panose="03000502040302020204" pitchFamily="66" charset="0"/>
              </a:rPr>
              <a:t>toți</a:t>
            </a:r>
            <a:r>
              <a:rPr lang="en-US" sz="4000" dirty="0">
                <a:solidFill>
                  <a:srgbClr val="FFFF00"/>
                </a:solidFill>
                <a:highlight>
                  <a:srgbClr val="000080"/>
                </a:highlight>
                <a:latin typeface="Century" panose="02040604050505020304" pitchFamily="18" charset="0"/>
                <a:cs typeface="Cavolini" panose="03000502040302020204" pitchFamily="66" charset="0"/>
              </a:rPr>
              <a:t>! </a:t>
            </a:r>
            <a:r>
              <a:rPr lang="en-US" sz="4000" dirty="0" err="1">
                <a:solidFill>
                  <a:srgbClr val="FFFF00"/>
                </a:solidFill>
                <a:highlight>
                  <a:srgbClr val="000080"/>
                </a:highlight>
                <a:latin typeface="Century" panose="02040604050505020304" pitchFamily="18" charset="0"/>
                <a:cs typeface="Cavolini" panose="03000502040302020204" pitchFamily="66" charset="0"/>
              </a:rPr>
              <a:t>Informează-i</a:t>
            </a:r>
            <a:r>
              <a:rPr lang="en-US" sz="4000" dirty="0">
                <a:solidFill>
                  <a:srgbClr val="FFFF00"/>
                </a:solidFill>
                <a:highlight>
                  <a:srgbClr val="000080"/>
                </a:highlight>
                <a:latin typeface="Century" panose="02040604050505020304" pitchFamily="18" charset="0"/>
                <a:cs typeface="Cavolini" panose="03000502040302020204" pitchFamily="66" charset="0"/>
              </a:rPr>
              <a:t> pe </a:t>
            </a:r>
            <a:r>
              <a:rPr lang="en-US" sz="4000" dirty="0" err="1">
                <a:solidFill>
                  <a:srgbClr val="FFFF00"/>
                </a:solidFill>
                <a:highlight>
                  <a:srgbClr val="000080"/>
                </a:highlight>
                <a:latin typeface="Century" panose="02040604050505020304" pitchFamily="18" charset="0"/>
                <a:cs typeface="Cavolini" panose="03000502040302020204" pitchFamily="66" charset="0"/>
              </a:rPr>
              <a:t>toți</a:t>
            </a:r>
            <a:r>
              <a:rPr lang="en-US" sz="4000" dirty="0">
                <a:solidFill>
                  <a:srgbClr val="FFFF00"/>
                </a:solidFill>
                <a:highlight>
                  <a:srgbClr val="000080"/>
                </a:highlight>
                <a:latin typeface="Century" panose="02040604050505020304" pitchFamily="18" charset="0"/>
                <a:cs typeface="Cavolini" panose="03000502040302020204" pitchFamily="66" charset="0"/>
              </a:rPr>
              <a:t>! </a:t>
            </a:r>
            <a:br>
              <a:rPr lang="en-US" sz="4000" dirty="0">
                <a:solidFill>
                  <a:srgbClr val="FFFF00"/>
                </a:solidFill>
                <a:highlight>
                  <a:srgbClr val="000080"/>
                </a:highlight>
                <a:latin typeface="Century" panose="02040604050505020304" pitchFamily="18" charset="0"/>
                <a:cs typeface="Cavolini" panose="03000502040302020204" pitchFamily="66" charset="0"/>
              </a:rPr>
            </a:br>
            <a:r>
              <a:rPr lang="en-US" sz="4000" dirty="0">
                <a:solidFill>
                  <a:srgbClr val="FFFF00"/>
                </a:solidFill>
                <a:highlight>
                  <a:srgbClr val="000080"/>
                </a:highlight>
                <a:latin typeface="Century" panose="02040604050505020304" pitchFamily="18" charset="0"/>
                <a:cs typeface="Cavolini" panose="03000502040302020204" pitchFamily="66" charset="0"/>
              </a:rPr>
              <a:t> </a:t>
            </a:r>
            <a:r>
              <a:rPr lang="en-US" sz="4000" dirty="0" err="1">
                <a:solidFill>
                  <a:srgbClr val="FFFF00"/>
                </a:solidFill>
                <a:highlight>
                  <a:srgbClr val="000080"/>
                </a:highlight>
                <a:latin typeface="Century" panose="02040604050505020304" pitchFamily="18" charset="0"/>
                <a:cs typeface="Cavolini" panose="03000502040302020204" pitchFamily="66" charset="0"/>
              </a:rPr>
              <a:t>Investește</a:t>
            </a:r>
            <a:r>
              <a:rPr lang="en-US" sz="4000" dirty="0">
                <a:solidFill>
                  <a:srgbClr val="FFFF00"/>
                </a:solidFill>
                <a:highlight>
                  <a:srgbClr val="000080"/>
                </a:highlight>
                <a:latin typeface="Century" panose="02040604050505020304" pitchFamily="18" charset="0"/>
                <a:cs typeface="Cavolini" panose="03000502040302020204" pitchFamily="66" charset="0"/>
              </a:rPr>
              <a:t> </a:t>
            </a:r>
            <a:r>
              <a:rPr lang="en-US" sz="4000" dirty="0" err="1">
                <a:solidFill>
                  <a:srgbClr val="FFFF00"/>
                </a:solidFill>
                <a:highlight>
                  <a:srgbClr val="000080"/>
                </a:highlight>
                <a:latin typeface="Century" panose="02040604050505020304" pitchFamily="18" charset="0"/>
                <a:cs typeface="Cavolini" panose="03000502040302020204" pitchFamily="66" charset="0"/>
              </a:rPr>
              <a:t>în</a:t>
            </a:r>
            <a:r>
              <a:rPr lang="en-US" sz="4000" dirty="0">
                <a:solidFill>
                  <a:srgbClr val="FFFF00"/>
                </a:solidFill>
                <a:highlight>
                  <a:srgbClr val="000080"/>
                </a:highlight>
                <a:latin typeface="Century" panose="02040604050505020304" pitchFamily="18" charset="0"/>
                <a:cs typeface="Cavolini" panose="03000502040302020204" pitchFamily="66" charset="0"/>
              </a:rPr>
              <a:t> </a:t>
            </a:r>
            <a:r>
              <a:rPr lang="en-US" sz="4000" dirty="0" err="1">
                <a:solidFill>
                  <a:srgbClr val="FFFF00"/>
                </a:solidFill>
                <a:highlight>
                  <a:srgbClr val="000080"/>
                </a:highlight>
                <a:latin typeface="Century" panose="02040604050505020304" pitchFamily="18" charset="0"/>
                <a:cs typeface="Cavolini" panose="03000502040302020204" pitchFamily="66" charset="0"/>
              </a:rPr>
              <a:t>toți</a:t>
            </a:r>
            <a:r>
              <a:rPr lang="en-US" sz="4000" dirty="0">
                <a:solidFill>
                  <a:srgbClr val="FFFF00"/>
                </a:solidFill>
                <a:highlight>
                  <a:srgbClr val="000080"/>
                </a:highlight>
                <a:latin typeface="Century" panose="02040604050505020304" pitchFamily="18" charset="0"/>
                <a:cs typeface="Cavolini" panose="03000502040302020204" pitchFamily="66" charset="0"/>
              </a:rPr>
              <a:t>!”</a:t>
            </a:r>
            <a:endParaRPr lang="en-US" sz="40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FD59085-14F1-4E89-B461-E2DD21030E1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Autofit/>
          </a:bodyPr>
          <a:lstStyle/>
          <a:p>
            <a:r>
              <a:rPr lang="en-US" sz="1600" dirty="0">
                <a:solidFill>
                  <a:srgbClr val="FFFF00"/>
                </a:solidFill>
                <a:highlight>
                  <a:srgbClr val="000080"/>
                </a:highlight>
                <a:latin typeface="Century" panose="02040604050505020304" pitchFamily="18" charset="0"/>
                <a:cs typeface="Cavolini" panose="03000502040302020204" pitchFamily="66" charset="0"/>
              </a:rPr>
              <a:t>PROIECT ERASMUS+ NR. 2024-2-RO01-KA122-ADU-000279325 – </a:t>
            </a:r>
            <a:br>
              <a:rPr lang="en-US" sz="1600" dirty="0">
                <a:solidFill>
                  <a:srgbClr val="FFFF00"/>
                </a:solidFill>
                <a:highlight>
                  <a:srgbClr val="000080"/>
                </a:highlight>
                <a:latin typeface="Century" panose="02040604050505020304" pitchFamily="18" charset="0"/>
                <a:cs typeface="Cavolini" panose="03000502040302020204" pitchFamily="66" charset="0"/>
              </a:rPr>
            </a:br>
            <a:r>
              <a:rPr lang="en-US" sz="1600" dirty="0" err="1">
                <a:solidFill>
                  <a:srgbClr val="FFFF00"/>
                </a:solidFill>
                <a:highlight>
                  <a:srgbClr val="000080"/>
                </a:highlight>
                <a:latin typeface="Century" panose="02040604050505020304" pitchFamily="18" charset="0"/>
                <a:cs typeface="Cavolini" panose="03000502040302020204" pitchFamily="66" charset="0"/>
              </a:rPr>
              <a:t>Educația</a:t>
            </a:r>
            <a:r>
              <a:rPr lang="en-US" sz="1600" dirty="0">
                <a:solidFill>
                  <a:srgbClr val="FFFF00"/>
                </a:solidFill>
                <a:highlight>
                  <a:srgbClr val="000080"/>
                </a:highlight>
                <a:latin typeface="Century" panose="02040604050505020304" pitchFamily="18" charset="0"/>
                <a:cs typeface="Cavolini" panose="03000502040302020204" pitchFamily="66" charset="0"/>
              </a:rPr>
              <a:t> </a:t>
            </a:r>
            <a:r>
              <a:rPr lang="en-US" sz="1600" dirty="0" err="1">
                <a:solidFill>
                  <a:srgbClr val="FFFF00"/>
                </a:solidFill>
                <a:highlight>
                  <a:srgbClr val="000080"/>
                </a:highlight>
                <a:latin typeface="Century" panose="02040604050505020304" pitchFamily="18" charset="0"/>
                <a:cs typeface="Cavolini" panose="03000502040302020204" pitchFamily="66" charset="0"/>
              </a:rPr>
              <a:t>Adulților</a:t>
            </a:r>
            <a:r>
              <a:rPr lang="en-US" sz="1600" dirty="0">
                <a:solidFill>
                  <a:srgbClr val="FFFF00"/>
                </a:solidFill>
                <a:highlight>
                  <a:srgbClr val="000080"/>
                </a:highlight>
                <a:latin typeface="Century" panose="02040604050505020304" pitchFamily="18" charset="0"/>
                <a:cs typeface="Cavolini" panose="03000502040302020204" pitchFamily="66" charset="0"/>
              </a:rPr>
              <a:t>  (ADU)- </a:t>
            </a:r>
            <a:r>
              <a:rPr lang="en-US" sz="1600" dirty="0" err="1">
                <a:solidFill>
                  <a:srgbClr val="FFFF00"/>
                </a:solidFill>
                <a:highlight>
                  <a:srgbClr val="000080"/>
                </a:highlight>
                <a:latin typeface="Century" panose="02040604050505020304" pitchFamily="18" charset="0"/>
                <a:cs typeface="Cavolini" panose="03000502040302020204" pitchFamily="66" charset="0"/>
              </a:rPr>
              <a:t>Asociatia</a:t>
            </a:r>
            <a:r>
              <a:rPr lang="en-US" sz="1600" dirty="0">
                <a:solidFill>
                  <a:srgbClr val="FFFF00"/>
                </a:solidFill>
                <a:highlight>
                  <a:srgbClr val="000080"/>
                </a:highlight>
                <a:latin typeface="Century" panose="02040604050505020304" pitchFamily="18" charset="0"/>
                <a:cs typeface="Cavolini" panose="03000502040302020204" pitchFamily="66" charset="0"/>
              </a:rPr>
              <a:t> </a:t>
            </a:r>
            <a:r>
              <a:rPr lang="en-US" sz="1600" dirty="0" err="1">
                <a:solidFill>
                  <a:srgbClr val="FFFF00"/>
                </a:solidFill>
                <a:highlight>
                  <a:srgbClr val="000080"/>
                </a:highlight>
                <a:latin typeface="Century" panose="02040604050505020304" pitchFamily="18" charset="0"/>
                <a:cs typeface="Cavolini" panose="03000502040302020204" pitchFamily="66" charset="0"/>
              </a:rPr>
              <a:t>Parintilor</a:t>
            </a:r>
            <a:r>
              <a:rPr lang="en-US" sz="1600" dirty="0">
                <a:solidFill>
                  <a:srgbClr val="FFFF00"/>
                </a:solidFill>
                <a:highlight>
                  <a:srgbClr val="000080"/>
                </a:highlight>
                <a:latin typeface="Century" panose="02040604050505020304" pitchFamily="18" charset="0"/>
                <a:cs typeface="Cavolini" panose="03000502040302020204" pitchFamily="66" charset="0"/>
              </a:rPr>
              <a:t> </a:t>
            </a:r>
            <a:r>
              <a:rPr lang="en-US" sz="1600" dirty="0" err="1">
                <a:solidFill>
                  <a:srgbClr val="FFFF00"/>
                </a:solidFill>
                <a:highlight>
                  <a:srgbClr val="000080"/>
                </a:highlight>
                <a:latin typeface="Century" panose="02040604050505020304" pitchFamily="18" charset="0"/>
                <a:cs typeface="Cavolini" panose="03000502040302020204" pitchFamily="66" charset="0"/>
              </a:rPr>
              <a:t>si</a:t>
            </a:r>
            <a:r>
              <a:rPr lang="en-US" sz="1600" dirty="0">
                <a:solidFill>
                  <a:srgbClr val="FFFF00"/>
                </a:solidFill>
                <a:highlight>
                  <a:srgbClr val="000080"/>
                </a:highlight>
                <a:latin typeface="Century" panose="02040604050505020304" pitchFamily="18" charset="0"/>
                <a:cs typeface="Cavolini" panose="03000502040302020204" pitchFamily="66" charset="0"/>
              </a:rPr>
              <a:t> </a:t>
            </a:r>
            <a:r>
              <a:rPr lang="en-US" sz="1600" dirty="0" err="1">
                <a:solidFill>
                  <a:srgbClr val="FFFF00"/>
                </a:solidFill>
                <a:highlight>
                  <a:srgbClr val="000080"/>
                </a:highlight>
                <a:latin typeface="Century" panose="02040604050505020304" pitchFamily="18" charset="0"/>
                <a:cs typeface="Cavolini" panose="03000502040302020204" pitchFamily="66" charset="0"/>
              </a:rPr>
              <a:t>profesorilor</a:t>
            </a:r>
            <a:r>
              <a:rPr lang="en-US" sz="1600" dirty="0">
                <a:solidFill>
                  <a:srgbClr val="FFFF00"/>
                </a:solidFill>
                <a:highlight>
                  <a:srgbClr val="000080"/>
                </a:highlight>
                <a:latin typeface="Century" panose="02040604050505020304" pitchFamily="18" charset="0"/>
                <a:cs typeface="Cavolini" panose="03000502040302020204" pitchFamily="66" charset="0"/>
              </a:rPr>
              <a:t> Voltaire</a:t>
            </a:r>
            <a:endParaRPr lang="en-US" sz="1600" dirty="0">
              <a:highlight>
                <a:srgbClr val="00008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247393578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3CE22E-C5ED-45DA-87CA-87E80D2F80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2C5309-DDD9-4120-9F7E-FBE760D1EA8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000" dirty="0" err="1">
                <a:solidFill>
                  <a:srgbClr val="002060"/>
                </a:solidFill>
              </a:rPr>
              <a:t>Conţinutul</a:t>
            </a:r>
            <a:r>
              <a:rPr lang="en-US" sz="2000" dirty="0">
                <a:solidFill>
                  <a:srgbClr val="002060"/>
                </a:solidFill>
              </a:rPr>
              <a:t> </a:t>
            </a:r>
            <a:r>
              <a:rPr lang="en-US" sz="2000" dirty="0" err="1">
                <a:solidFill>
                  <a:srgbClr val="002060"/>
                </a:solidFill>
              </a:rPr>
              <a:t>prezentului</a:t>
            </a:r>
            <a:r>
              <a:rPr lang="en-US" sz="2000" dirty="0">
                <a:solidFill>
                  <a:srgbClr val="002060"/>
                </a:solidFill>
              </a:rPr>
              <a:t> material </a:t>
            </a:r>
            <a:r>
              <a:rPr lang="en-US" sz="2000" dirty="0" err="1">
                <a:solidFill>
                  <a:srgbClr val="002060"/>
                </a:solidFill>
              </a:rPr>
              <a:t>reprezintă</a:t>
            </a:r>
            <a:r>
              <a:rPr lang="en-US" sz="2000" dirty="0">
                <a:solidFill>
                  <a:srgbClr val="002060"/>
                </a:solidFill>
              </a:rPr>
              <a:t> </a:t>
            </a:r>
            <a:r>
              <a:rPr lang="en-US" sz="2000" dirty="0" err="1">
                <a:solidFill>
                  <a:srgbClr val="002060"/>
                </a:solidFill>
              </a:rPr>
              <a:t>responsabilitatea</a:t>
            </a:r>
            <a:r>
              <a:rPr lang="en-US" sz="2000" dirty="0">
                <a:solidFill>
                  <a:srgbClr val="002060"/>
                </a:solidFill>
              </a:rPr>
              <a:t> </a:t>
            </a:r>
            <a:r>
              <a:rPr lang="en-US" sz="2000" dirty="0" err="1">
                <a:solidFill>
                  <a:srgbClr val="002060"/>
                </a:solidFill>
              </a:rPr>
              <a:t>exclusivă</a:t>
            </a:r>
            <a:r>
              <a:rPr lang="en-US" sz="2000" dirty="0">
                <a:solidFill>
                  <a:srgbClr val="002060"/>
                </a:solidFill>
              </a:rPr>
              <a:t> a </a:t>
            </a:r>
            <a:r>
              <a:rPr lang="en-US" sz="2000" dirty="0" err="1">
                <a:solidFill>
                  <a:srgbClr val="002060"/>
                </a:solidFill>
              </a:rPr>
              <a:t>autorilor</a:t>
            </a:r>
            <a:r>
              <a:rPr lang="en-US" sz="2000" dirty="0">
                <a:solidFill>
                  <a:srgbClr val="002060"/>
                </a:solidFill>
              </a:rPr>
              <a:t>, </a:t>
            </a:r>
            <a:r>
              <a:rPr lang="en-US" sz="2000" dirty="0" err="1">
                <a:solidFill>
                  <a:srgbClr val="002060"/>
                </a:solidFill>
              </a:rPr>
              <a:t>iar</a:t>
            </a:r>
            <a:r>
              <a:rPr lang="en-US" sz="2000" dirty="0">
                <a:solidFill>
                  <a:srgbClr val="002060"/>
                </a:solidFill>
              </a:rPr>
              <a:t> </a:t>
            </a:r>
            <a:r>
              <a:rPr lang="en-US" sz="2000" dirty="0" err="1">
                <a:solidFill>
                  <a:srgbClr val="002060"/>
                </a:solidFill>
              </a:rPr>
              <a:t>Agenţia</a:t>
            </a:r>
            <a:r>
              <a:rPr lang="en-US" sz="2000" dirty="0">
                <a:solidFill>
                  <a:srgbClr val="002060"/>
                </a:solidFill>
              </a:rPr>
              <a:t> </a:t>
            </a:r>
            <a:r>
              <a:rPr lang="en-US" sz="2000" dirty="0" err="1">
                <a:solidFill>
                  <a:srgbClr val="002060"/>
                </a:solidFill>
              </a:rPr>
              <a:t>Naţională</a:t>
            </a:r>
            <a:r>
              <a:rPr lang="en-US" sz="2000" dirty="0">
                <a:solidFill>
                  <a:srgbClr val="002060"/>
                </a:solidFill>
              </a:rPr>
              <a:t> </a:t>
            </a:r>
            <a:r>
              <a:rPr lang="en-US" sz="2000" dirty="0" err="1">
                <a:solidFill>
                  <a:srgbClr val="002060"/>
                </a:solidFill>
              </a:rPr>
              <a:t>şi</a:t>
            </a:r>
            <a:r>
              <a:rPr lang="en-US" sz="2000" dirty="0">
                <a:solidFill>
                  <a:srgbClr val="002060"/>
                </a:solidFill>
              </a:rPr>
              <a:t> </a:t>
            </a:r>
            <a:r>
              <a:rPr lang="en-US" sz="2000" dirty="0" err="1">
                <a:solidFill>
                  <a:srgbClr val="002060"/>
                </a:solidFill>
              </a:rPr>
              <a:t>Comisia</a:t>
            </a:r>
            <a:r>
              <a:rPr lang="en-US" sz="2000" dirty="0">
                <a:solidFill>
                  <a:srgbClr val="002060"/>
                </a:solidFill>
              </a:rPr>
              <a:t> </a:t>
            </a:r>
            <a:r>
              <a:rPr lang="en-US" sz="2000" dirty="0" err="1">
                <a:solidFill>
                  <a:srgbClr val="002060"/>
                </a:solidFill>
              </a:rPr>
              <a:t>Europeană</a:t>
            </a:r>
            <a:r>
              <a:rPr lang="en-US" sz="2000" dirty="0">
                <a:solidFill>
                  <a:srgbClr val="002060"/>
                </a:solidFill>
              </a:rPr>
              <a:t> nu sunt </a:t>
            </a:r>
            <a:r>
              <a:rPr lang="en-US" sz="2000" dirty="0" err="1">
                <a:solidFill>
                  <a:srgbClr val="002060"/>
                </a:solidFill>
              </a:rPr>
              <a:t>responsabile</a:t>
            </a:r>
            <a:r>
              <a:rPr lang="en-US" sz="2000" dirty="0">
                <a:solidFill>
                  <a:srgbClr val="002060"/>
                </a:solidFill>
              </a:rPr>
              <a:t> </a:t>
            </a:r>
            <a:r>
              <a:rPr lang="en-US" sz="2000" dirty="0" err="1">
                <a:solidFill>
                  <a:srgbClr val="002060"/>
                </a:solidFill>
              </a:rPr>
              <a:t>pentru</a:t>
            </a:r>
            <a:r>
              <a:rPr lang="en-US" sz="2000" dirty="0">
                <a:solidFill>
                  <a:srgbClr val="002060"/>
                </a:solidFill>
              </a:rPr>
              <a:t> </a:t>
            </a:r>
            <a:r>
              <a:rPr lang="en-US" sz="2000" dirty="0" err="1">
                <a:solidFill>
                  <a:srgbClr val="002060"/>
                </a:solidFill>
              </a:rPr>
              <a:t>modul</a:t>
            </a:r>
            <a:r>
              <a:rPr lang="en-US" sz="2000" dirty="0">
                <a:solidFill>
                  <a:srgbClr val="002060"/>
                </a:solidFill>
              </a:rPr>
              <a:t> </a:t>
            </a:r>
            <a:r>
              <a:rPr lang="en-US" sz="2000" dirty="0" err="1">
                <a:solidFill>
                  <a:srgbClr val="002060"/>
                </a:solidFill>
              </a:rPr>
              <a:t>în</a:t>
            </a:r>
            <a:r>
              <a:rPr lang="en-US" sz="2000" dirty="0">
                <a:solidFill>
                  <a:srgbClr val="002060"/>
                </a:solidFill>
              </a:rPr>
              <a:t> care </a:t>
            </a:r>
            <a:r>
              <a:rPr lang="en-US" sz="2000" dirty="0" err="1">
                <a:solidFill>
                  <a:srgbClr val="002060"/>
                </a:solidFill>
              </a:rPr>
              <a:t>va</a:t>
            </a:r>
            <a:r>
              <a:rPr lang="en-US" sz="2000" dirty="0">
                <a:solidFill>
                  <a:srgbClr val="002060"/>
                </a:solidFill>
              </a:rPr>
              <a:t> fi </a:t>
            </a:r>
            <a:r>
              <a:rPr lang="en-US" sz="2000" dirty="0" err="1">
                <a:solidFill>
                  <a:srgbClr val="002060"/>
                </a:solidFill>
              </a:rPr>
              <a:t>folosit</a:t>
            </a:r>
            <a:r>
              <a:rPr lang="en-US" sz="2000" dirty="0">
                <a:solidFill>
                  <a:srgbClr val="002060"/>
                </a:solidFill>
              </a:rPr>
              <a:t> </a:t>
            </a:r>
            <a:r>
              <a:rPr lang="en-US" sz="2000" dirty="0" err="1">
                <a:solidFill>
                  <a:srgbClr val="002060"/>
                </a:solidFill>
              </a:rPr>
              <a:t>conţinutul</a:t>
            </a:r>
            <a:r>
              <a:rPr lang="en-US" sz="2000" dirty="0">
                <a:solidFill>
                  <a:srgbClr val="002060"/>
                </a:solidFill>
              </a:rPr>
              <a:t> </a:t>
            </a:r>
            <a:r>
              <a:rPr lang="en-US" sz="2000" dirty="0" err="1">
                <a:solidFill>
                  <a:srgbClr val="002060"/>
                </a:solidFill>
              </a:rPr>
              <a:t>informaţiei</a:t>
            </a:r>
            <a:endParaRPr lang="en-US" sz="2000" dirty="0">
              <a:solidFill>
                <a:srgbClr val="002060"/>
              </a:solidFill>
            </a:endParaRPr>
          </a:p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E94A29F-2585-40E7-9004-80CC02483F1B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451579" y="659959"/>
            <a:ext cx="8082035" cy="119379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6002086-A25B-4757-A305-4F0077B8324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0" y="3125584"/>
            <a:ext cx="4511040" cy="2111433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C97C8BBF-CE19-425A-B621-BFCEA9FC215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3125584"/>
            <a:ext cx="4572000" cy="21114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757932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29E518-3F0F-476C-B859-68B9ECC113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>
                <a:latin typeface="Algerian" panose="04020705040A02060702" pitchFamily="82" charset="0"/>
              </a:rPr>
              <a:t>Job shadowing </a:t>
            </a:r>
            <a:r>
              <a:rPr lang="en-US" dirty="0" err="1">
                <a:latin typeface="Algerian" panose="04020705040A02060702" pitchFamily="82" charset="0"/>
              </a:rPr>
              <a:t>Vizela</a:t>
            </a:r>
            <a:r>
              <a:rPr lang="en-US" dirty="0">
                <a:latin typeface="Algerian" panose="04020705040A02060702" pitchFamily="82" charset="0"/>
              </a:rPr>
              <a:t>, </a:t>
            </a:r>
            <a:r>
              <a:rPr lang="en-US" dirty="0" err="1">
                <a:latin typeface="Algerian" panose="04020705040A02060702" pitchFamily="82" charset="0"/>
              </a:rPr>
              <a:t>Portugalia</a:t>
            </a:r>
            <a:r>
              <a:rPr lang="en-US" dirty="0">
                <a:latin typeface="Algerian" panose="04020705040A02060702" pitchFamily="82" charset="0"/>
              </a:rPr>
              <a:t>– </a:t>
            </a:r>
            <a:br>
              <a:rPr lang="en-US" dirty="0">
                <a:latin typeface="Algerian" panose="04020705040A02060702" pitchFamily="82" charset="0"/>
              </a:rPr>
            </a:br>
            <a:r>
              <a:rPr lang="pt-BR" sz="1800" b="0" i="0" u="none" strike="noStrike" baseline="0" dirty="0">
                <a:solidFill>
                  <a:srgbClr val="333333"/>
                </a:solidFill>
                <a:latin typeface="Algerian" panose="04020705040A02060702" pitchFamily="82" charset="0"/>
              </a:rPr>
              <a:t>JEAD - ASSOCIAÇÃO DIGI-CULTURAL E RECREATIVA JOVENS NA EUROPA</a:t>
            </a:r>
            <a:br>
              <a:rPr lang="pt-BR" sz="1800" b="0" i="0" u="none" strike="noStrike" baseline="0" dirty="0">
                <a:solidFill>
                  <a:srgbClr val="333333"/>
                </a:solidFill>
                <a:latin typeface="Algerian" panose="04020705040A02060702" pitchFamily="82" charset="0"/>
              </a:rPr>
            </a:br>
            <a:r>
              <a:rPr lang="pt-BR" sz="1800" b="0" i="0" u="none" strike="noStrike" baseline="0" dirty="0">
                <a:solidFill>
                  <a:srgbClr val="333333"/>
                </a:solidFill>
                <a:latin typeface="Algerian" panose="04020705040A02060702" pitchFamily="82" charset="0"/>
              </a:rPr>
              <a:t>7-11.07.2025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3DAC4B-D7F1-44F5-9E10-375DCF5B4E0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Neagoe</a:t>
            </a:r>
            <a:r>
              <a:rPr lang="en-US" dirty="0"/>
              <a:t> Camelia</a:t>
            </a:r>
          </a:p>
          <a:p>
            <a:r>
              <a:rPr lang="en-US" dirty="0" err="1"/>
              <a:t>Mitrica</a:t>
            </a:r>
            <a:r>
              <a:rPr lang="en-US" dirty="0"/>
              <a:t> Adina</a:t>
            </a:r>
          </a:p>
          <a:p>
            <a:r>
              <a:rPr lang="en-US" dirty="0"/>
              <a:t>Udroiu Adriana</a:t>
            </a:r>
          </a:p>
          <a:p>
            <a:r>
              <a:rPr lang="en-US" dirty="0" err="1"/>
              <a:t>Militaru</a:t>
            </a:r>
            <a:r>
              <a:rPr lang="en-US" dirty="0"/>
              <a:t> Gabriela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C0FAC10-9603-4A73-A926-E7F553D9965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04261" y="2193598"/>
            <a:ext cx="3607724" cy="245224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E347E0B-3401-420D-83C5-A178BB296D0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11985" y="2202880"/>
            <a:ext cx="2978726" cy="245224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15CE252A-4991-4C48-AB9A-293CF80AAD8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66159" y="2202880"/>
            <a:ext cx="2277687" cy="24522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625775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69C583-6572-4C1D-9F98-CEF28FDC63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ActivitATI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E4EF93-FC52-4D36-85F0-0BC685F2B9A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/>
            <a:r>
              <a:rPr lang="en-US" sz="1800" b="0" i="0" u="none" strike="noStrike" baseline="0" dirty="0" err="1">
                <a:solidFill>
                  <a:srgbClr val="333333"/>
                </a:solidFill>
                <a:latin typeface="FreeSans"/>
              </a:rPr>
              <a:t>Activitățile</a:t>
            </a:r>
            <a:r>
              <a:rPr lang="en-US" sz="1800" b="0" i="0" u="none" strike="noStrike" baseline="0" dirty="0">
                <a:solidFill>
                  <a:srgbClr val="333333"/>
                </a:solidFill>
                <a:latin typeface="FreeSans"/>
              </a:rPr>
              <a:t> pe care le-am </a:t>
            </a:r>
            <a:r>
              <a:rPr lang="en-US" sz="1800" b="0" i="0" u="none" strike="noStrike" baseline="0" dirty="0" err="1">
                <a:solidFill>
                  <a:srgbClr val="333333"/>
                </a:solidFill>
                <a:latin typeface="FreeSans"/>
              </a:rPr>
              <a:t>desfășurat</a:t>
            </a:r>
            <a:r>
              <a:rPr lang="en-US" sz="1800" b="0" i="0" u="none" strike="noStrike" baseline="0" dirty="0">
                <a:solidFill>
                  <a:srgbClr val="333333"/>
                </a:solidFill>
                <a:latin typeface="FreeSans"/>
              </a:rPr>
              <a:t> </a:t>
            </a:r>
            <a:r>
              <a:rPr lang="en-US" sz="1800" b="0" i="0" u="none" strike="noStrike" baseline="0" dirty="0" err="1">
                <a:solidFill>
                  <a:srgbClr val="333333"/>
                </a:solidFill>
                <a:latin typeface="FreeSans"/>
              </a:rPr>
              <a:t>în</a:t>
            </a:r>
            <a:r>
              <a:rPr lang="en-US" sz="1800" b="0" i="0" u="none" strike="noStrike" baseline="0" dirty="0">
                <a:solidFill>
                  <a:srgbClr val="333333"/>
                </a:solidFill>
                <a:latin typeface="FreeSans"/>
              </a:rPr>
              <a:t> </a:t>
            </a:r>
            <a:r>
              <a:rPr lang="en-US" sz="1800" b="0" i="0" u="none" strike="noStrike" baseline="0" dirty="0" err="1">
                <a:solidFill>
                  <a:srgbClr val="333333"/>
                </a:solidFill>
                <a:latin typeface="FreeSans"/>
              </a:rPr>
              <a:t>perioada</a:t>
            </a:r>
            <a:r>
              <a:rPr lang="en-US" sz="1800" b="0" i="0" u="none" strike="noStrike" baseline="0" dirty="0">
                <a:solidFill>
                  <a:srgbClr val="333333"/>
                </a:solidFill>
                <a:latin typeface="FreeSans"/>
              </a:rPr>
              <a:t> de </a:t>
            </a:r>
            <a:r>
              <a:rPr lang="en-US" sz="1800" b="0" i="0" u="none" strike="noStrike" baseline="0" dirty="0" err="1">
                <a:solidFill>
                  <a:srgbClr val="333333"/>
                </a:solidFill>
                <a:latin typeface="FreeSans"/>
              </a:rPr>
              <a:t>mobilitate</a:t>
            </a:r>
            <a:r>
              <a:rPr lang="en-US" sz="1800" b="0" i="0" u="none" strike="noStrike" baseline="0" dirty="0">
                <a:solidFill>
                  <a:srgbClr val="333333"/>
                </a:solidFill>
                <a:latin typeface="FreeSans"/>
              </a:rPr>
              <a:t> au </a:t>
            </a:r>
            <a:r>
              <a:rPr lang="en-US" sz="1800" b="0" i="0" u="none" strike="noStrike" baseline="0" dirty="0" err="1">
                <a:solidFill>
                  <a:srgbClr val="333333"/>
                </a:solidFill>
                <a:latin typeface="FreeSans"/>
              </a:rPr>
              <a:t>fost</a:t>
            </a:r>
            <a:r>
              <a:rPr lang="en-US" sz="1800" b="0" i="0" u="none" strike="noStrike" baseline="0" dirty="0">
                <a:solidFill>
                  <a:srgbClr val="333333"/>
                </a:solidFill>
                <a:latin typeface="FreeSans"/>
              </a:rPr>
              <a:t> </a:t>
            </a:r>
            <a:r>
              <a:rPr lang="en-US" sz="1800" b="0" i="0" u="none" strike="noStrike" baseline="0" dirty="0" err="1">
                <a:solidFill>
                  <a:srgbClr val="333333"/>
                </a:solidFill>
                <a:latin typeface="FreeSans"/>
              </a:rPr>
              <a:t>următoarele</a:t>
            </a:r>
            <a:r>
              <a:rPr lang="en-US" sz="1800" b="0" i="0" u="none" strike="noStrike" baseline="0" dirty="0">
                <a:solidFill>
                  <a:srgbClr val="333333"/>
                </a:solidFill>
                <a:latin typeface="FreeSans"/>
              </a:rPr>
              <a:t>: - </a:t>
            </a:r>
            <a:r>
              <a:rPr lang="en-US" sz="1800" b="0" i="0" u="none" strike="noStrike" baseline="0" dirty="0" err="1">
                <a:solidFill>
                  <a:srgbClr val="333333"/>
                </a:solidFill>
                <a:latin typeface="FreeSans"/>
              </a:rPr>
              <a:t>sesiune</a:t>
            </a:r>
            <a:r>
              <a:rPr lang="en-US" sz="1800" b="0" i="0" u="none" strike="noStrike" baseline="0" dirty="0">
                <a:solidFill>
                  <a:srgbClr val="333333"/>
                </a:solidFill>
                <a:latin typeface="FreeSans"/>
              </a:rPr>
              <a:t> de bun </a:t>
            </a:r>
            <a:r>
              <a:rPr lang="en-US" sz="1800" b="0" i="0" u="none" strike="noStrike" baseline="0" dirty="0" err="1">
                <a:solidFill>
                  <a:srgbClr val="333333"/>
                </a:solidFill>
                <a:latin typeface="FreeSans"/>
              </a:rPr>
              <a:t>venit</a:t>
            </a:r>
            <a:r>
              <a:rPr lang="en-US" sz="1800" b="0" i="0" u="none" strike="noStrike" baseline="0" dirty="0">
                <a:solidFill>
                  <a:srgbClr val="333333"/>
                </a:solidFill>
                <a:latin typeface="FreeSans"/>
              </a:rPr>
              <a:t> </a:t>
            </a:r>
            <a:r>
              <a:rPr lang="en-US" sz="1800" b="0" i="0" u="none" strike="noStrike" baseline="0" dirty="0" err="1">
                <a:solidFill>
                  <a:srgbClr val="333333"/>
                </a:solidFill>
                <a:latin typeface="FreeSans"/>
              </a:rPr>
              <a:t>și</a:t>
            </a:r>
            <a:r>
              <a:rPr lang="en-US" sz="1800" b="0" i="0" u="none" strike="noStrike" baseline="0" dirty="0">
                <a:solidFill>
                  <a:srgbClr val="333333"/>
                </a:solidFill>
                <a:latin typeface="FreeSans"/>
              </a:rPr>
              <a:t> o </a:t>
            </a:r>
            <a:r>
              <a:rPr lang="en-US" sz="1800" b="0" i="0" u="none" strike="noStrike" baseline="0" dirty="0" err="1">
                <a:solidFill>
                  <a:srgbClr val="333333"/>
                </a:solidFill>
                <a:latin typeface="FreeSans"/>
              </a:rPr>
              <a:t>prezentare</a:t>
            </a:r>
            <a:r>
              <a:rPr lang="en-US" sz="1800" b="0" i="0" u="none" strike="noStrike" baseline="0" dirty="0">
                <a:solidFill>
                  <a:srgbClr val="333333"/>
                </a:solidFill>
                <a:latin typeface="FreeSans"/>
              </a:rPr>
              <a:t> </a:t>
            </a:r>
            <a:r>
              <a:rPr lang="en-US" sz="1800" b="0" i="0" u="none" strike="noStrike" baseline="0" dirty="0" err="1">
                <a:solidFill>
                  <a:srgbClr val="333333"/>
                </a:solidFill>
                <a:latin typeface="FreeSans"/>
              </a:rPr>
              <a:t>ghidată</a:t>
            </a:r>
            <a:r>
              <a:rPr lang="en-US" sz="1800" b="0" i="0" u="none" strike="noStrike" baseline="0" dirty="0">
                <a:solidFill>
                  <a:srgbClr val="333333"/>
                </a:solidFill>
                <a:latin typeface="FreeSans"/>
              </a:rPr>
              <a:t> a </a:t>
            </a:r>
            <a:r>
              <a:rPr lang="en-US" sz="1800" b="0" i="0" u="none" strike="noStrike" baseline="0" dirty="0" err="1">
                <a:solidFill>
                  <a:srgbClr val="333333"/>
                </a:solidFill>
                <a:latin typeface="FreeSans"/>
              </a:rPr>
              <a:t>organizației</a:t>
            </a:r>
            <a:r>
              <a:rPr lang="en-US" sz="1800" b="0" i="0" u="none" strike="noStrike" baseline="0" dirty="0">
                <a:solidFill>
                  <a:srgbClr val="333333"/>
                </a:solidFill>
                <a:latin typeface="FreeSans"/>
              </a:rPr>
              <a:t> </a:t>
            </a:r>
            <a:r>
              <a:rPr lang="en-US" sz="1800" b="0" i="0" u="none" strike="noStrike" baseline="0" dirty="0" err="1">
                <a:solidFill>
                  <a:srgbClr val="333333"/>
                </a:solidFill>
                <a:latin typeface="FreeSans"/>
              </a:rPr>
              <a:t>gazdă</a:t>
            </a:r>
            <a:r>
              <a:rPr lang="en-US" sz="1800" b="0" i="0" u="none" strike="noStrike" baseline="0" dirty="0">
                <a:solidFill>
                  <a:srgbClr val="333333"/>
                </a:solidFill>
                <a:latin typeface="FreeSans"/>
              </a:rPr>
              <a:t>, </a:t>
            </a:r>
            <a:r>
              <a:rPr lang="en-US" sz="1800" b="0" i="0" u="none" strike="noStrike" baseline="0" dirty="0" err="1">
                <a:solidFill>
                  <a:srgbClr val="333333"/>
                </a:solidFill>
                <a:latin typeface="FreeSans"/>
              </a:rPr>
              <a:t>inclusiv</a:t>
            </a:r>
            <a:r>
              <a:rPr lang="en-US" sz="1800" b="0" i="0" u="none" strike="noStrike" baseline="0" dirty="0">
                <a:solidFill>
                  <a:srgbClr val="333333"/>
                </a:solidFill>
                <a:latin typeface="FreeSans"/>
              </a:rPr>
              <a:t> a </a:t>
            </a:r>
            <a:r>
              <a:rPr lang="en-US" sz="1800" b="0" i="0" u="none" strike="noStrike" baseline="0" dirty="0" err="1">
                <a:solidFill>
                  <a:srgbClr val="333333"/>
                </a:solidFill>
                <a:latin typeface="FreeSans"/>
              </a:rPr>
              <a:t>programelor</a:t>
            </a:r>
            <a:r>
              <a:rPr lang="en-US" sz="1800" b="0" i="0" u="none" strike="noStrike" baseline="0" dirty="0">
                <a:solidFill>
                  <a:srgbClr val="333333"/>
                </a:solidFill>
                <a:latin typeface="FreeSans"/>
              </a:rPr>
              <a:t> </a:t>
            </a:r>
            <a:r>
              <a:rPr lang="en-US" sz="1800" b="0" i="0" u="none" strike="noStrike" baseline="0" dirty="0" err="1">
                <a:solidFill>
                  <a:srgbClr val="333333"/>
                </a:solidFill>
                <a:latin typeface="FreeSans"/>
              </a:rPr>
              <a:t>educaționale</a:t>
            </a:r>
            <a:r>
              <a:rPr lang="en-US" sz="1800" b="0" i="0" u="none" strike="noStrike" baseline="0" dirty="0">
                <a:solidFill>
                  <a:srgbClr val="333333"/>
                </a:solidFill>
                <a:latin typeface="FreeSans"/>
              </a:rPr>
              <a:t> </a:t>
            </a:r>
            <a:r>
              <a:rPr lang="en-US" sz="1800" b="0" i="0" u="none" strike="noStrike" baseline="0" dirty="0" err="1">
                <a:solidFill>
                  <a:srgbClr val="333333"/>
                </a:solidFill>
                <a:latin typeface="FreeSans"/>
              </a:rPr>
              <a:t>și</a:t>
            </a:r>
            <a:r>
              <a:rPr lang="en-US" sz="1800" b="0" i="0" u="none" strike="noStrike" baseline="0" dirty="0">
                <a:solidFill>
                  <a:srgbClr val="333333"/>
                </a:solidFill>
                <a:latin typeface="FreeSans"/>
              </a:rPr>
              <a:t> a </a:t>
            </a:r>
            <a:r>
              <a:rPr lang="en-US" sz="1800" b="0" i="0" u="none" strike="noStrike" baseline="0" dirty="0" err="1">
                <a:solidFill>
                  <a:srgbClr val="333333"/>
                </a:solidFill>
                <a:latin typeface="FreeSans"/>
              </a:rPr>
              <a:t>proiectelor</a:t>
            </a:r>
            <a:r>
              <a:rPr lang="en-US" sz="1800" b="0" i="0" u="none" strike="noStrike" baseline="0" dirty="0">
                <a:solidFill>
                  <a:srgbClr val="333333"/>
                </a:solidFill>
                <a:latin typeface="FreeSans"/>
              </a:rPr>
              <a:t> de </a:t>
            </a:r>
            <a:r>
              <a:rPr lang="en-US" sz="1800" b="0" i="0" u="none" strike="noStrike" baseline="0" dirty="0" err="1">
                <a:solidFill>
                  <a:srgbClr val="333333"/>
                </a:solidFill>
                <a:latin typeface="FreeSans"/>
              </a:rPr>
              <a:t>cooperare</a:t>
            </a:r>
            <a:r>
              <a:rPr lang="en-US" sz="1800" b="0" i="0" u="none" strike="noStrike" baseline="0" dirty="0">
                <a:solidFill>
                  <a:srgbClr val="333333"/>
                </a:solidFill>
                <a:latin typeface="FreeSans"/>
              </a:rPr>
              <a:t> </a:t>
            </a:r>
            <a:r>
              <a:rPr lang="en-US" sz="1800" b="0" i="0" u="none" strike="noStrike" baseline="0" dirty="0" err="1">
                <a:solidFill>
                  <a:srgbClr val="333333"/>
                </a:solidFill>
                <a:latin typeface="FreeSans"/>
              </a:rPr>
              <a:t>europeană</a:t>
            </a:r>
            <a:r>
              <a:rPr lang="en-US" sz="1800" b="0" i="0" u="none" strike="noStrike" baseline="0" dirty="0">
                <a:solidFill>
                  <a:srgbClr val="333333"/>
                </a:solidFill>
                <a:latin typeface="FreeSans"/>
              </a:rPr>
              <a:t>, a </a:t>
            </a:r>
            <a:r>
              <a:rPr lang="en-US" sz="1800" b="0" i="0" u="none" strike="noStrike" baseline="0" dirty="0" err="1">
                <a:solidFill>
                  <a:srgbClr val="333333"/>
                </a:solidFill>
                <a:latin typeface="FreeSans"/>
              </a:rPr>
              <a:t>structurii</a:t>
            </a:r>
            <a:r>
              <a:rPr lang="en-US" sz="1800" b="0" i="0" u="none" strike="noStrike" baseline="0" dirty="0">
                <a:solidFill>
                  <a:srgbClr val="333333"/>
                </a:solidFill>
                <a:latin typeface="FreeSans"/>
              </a:rPr>
              <a:t> </a:t>
            </a:r>
            <a:r>
              <a:rPr lang="en-US" sz="1800" b="0" i="0" u="none" strike="noStrike" baseline="0" dirty="0" err="1">
                <a:solidFill>
                  <a:srgbClr val="333333"/>
                </a:solidFill>
                <a:latin typeface="FreeSans"/>
              </a:rPr>
              <a:t>organizaționale</a:t>
            </a:r>
            <a:r>
              <a:rPr lang="en-US" sz="1800" b="0" i="0" u="none" strike="noStrike" baseline="0" dirty="0">
                <a:solidFill>
                  <a:srgbClr val="333333"/>
                </a:solidFill>
                <a:latin typeface="FreeSans"/>
              </a:rPr>
              <a:t>, a </a:t>
            </a:r>
            <a:r>
              <a:rPr lang="en-US" sz="1800" b="0" i="0" u="none" strike="noStrike" baseline="0" dirty="0" err="1">
                <a:solidFill>
                  <a:srgbClr val="333333"/>
                </a:solidFill>
                <a:latin typeface="FreeSans"/>
              </a:rPr>
              <a:t>contextului</a:t>
            </a:r>
            <a:r>
              <a:rPr lang="en-US" sz="1800" b="0" i="0" u="none" strike="noStrike" baseline="0" dirty="0">
                <a:solidFill>
                  <a:srgbClr val="333333"/>
                </a:solidFill>
                <a:latin typeface="FreeSans"/>
              </a:rPr>
              <a:t> specific </a:t>
            </a:r>
            <a:r>
              <a:rPr lang="en-US" sz="1800" b="0" i="0" u="none" strike="noStrike" baseline="0" dirty="0" err="1">
                <a:solidFill>
                  <a:srgbClr val="333333"/>
                </a:solidFill>
                <a:latin typeface="FreeSans"/>
              </a:rPr>
              <a:t>în</a:t>
            </a:r>
            <a:r>
              <a:rPr lang="en-US" sz="1800" b="0" i="0" u="none" strike="noStrike" baseline="0" dirty="0">
                <a:solidFill>
                  <a:srgbClr val="333333"/>
                </a:solidFill>
                <a:latin typeface="FreeSans"/>
              </a:rPr>
              <a:t> care </a:t>
            </a:r>
            <a:r>
              <a:rPr lang="en-US" sz="1800" b="0" i="0" u="none" strike="noStrike" baseline="0" dirty="0" err="1">
                <a:solidFill>
                  <a:srgbClr val="333333"/>
                </a:solidFill>
                <a:latin typeface="FreeSans"/>
              </a:rPr>
              <a:t>aceasta</a:t>
            </a:r>
            <a:r>
              <a:rPr lang="en-US" sz="1800" b="0" i="0" u="none" strike="noStrike" baseline="0" dirty="0">
                <a:solidFill>
                  <a:srgbClr val="333333"/>
                </a:solidFill>
                <a:latin typeface="FreeSans"/>
              </a:rPr>
              <a:t> </a:t>
            </a:r>
            <a:r>
              <a:rPr lang="en-US" sz="1800" b="0" i="0" u="none" strike="noStrike" baseline="0" dirty="0" err="1">
                <a:solidFill>
                  <a:srgbClr val="333333"/>
                </a:solidFill>
                <a:latin typeface="FreeSans"/>
              </a:rPr>
              <a:t>operează</a:t>
            </a:r>
            <a:r>
              <a:rPr lang="en-US" sz="1800" b="0" i="0" u="none" strike="noStrike" baseline="0" dirty="0">
                <a:solidFill>
                  <a:srgbClr val="333333"/>
                </a:solidFill>
                <a:latin typeface="FreeSans"/>
              </a:rPr>
              <a:t> </a:t>
            </a:r>
            <a:r>
              <a:rPr lang="en-US" sz="1800" b="0" i="0" u="none" strike="noStrike" baseline="0" dirty="0" err="1">
                <a:solidFill>
                  <a:srgbClr val="333333"/>
                </a:solidFill>
                <a:latin typeface="FreeSans"/>
              </a:rPr>
              <a:t>și</a:t>
            </a:r>
            <a:r>
              <a:rPr lang="en-US" sz="1800" b="0" i="0" u="none" strike="noStrike" baseline="0" dirty="0">
                <a:solidFill>
                  <a:srgbClr val="333333"/>
                </a:solidFill>
                <a:latin typeface="FreeSans"/>
              </a:rPr>
              <a:t> a </a:t>
            </a:r>
            <a:r>
              <a:rPr lang="en-US" sz="1800" b="0" i="0" u="none" strike="noStrike" baseline="0" dirty="0" err="1">
                <a:solidFill>
                  <a:srgbClr val="333333"/>
                </a:solidFill>
                <a:latin typeface="FreeSans"/>
              </a:rPr>
              <a:t>valorilor</a:t>
            </a:r>
            <a:r>
              <a:rPr lang="en-US" sz="1800" b="0" i="0" u="none" strike="noStrike" baseline="0" dirty="0">
                <a:solidFill>
                  <a:srgbClr val="333333"/>
                </a:solidFill>
                <a:latin typeface="FreeSans"/>
              </a:rPr>
              <a:t> care </a:t>
            </a:r>
            <a:r>
              <a:rPr lang="en-US" sz="1800" b="0" i="0" u="none" strike="noStrike" baseline="0" dirty="0" err="1">
                <a:solidFill>
                  <a:srgbClr val="333333"/>
                </a:solidFill>
                <a:latin typeface="FreeSans"/>
              </a:rPr>
              <a:t>îi</a:t>
            </a:r>
            <a:r>
              <a:rPr lang="en-US" sz="1800" b="0" i="0" u="none" strike="noStrike" baseline="0" dirty="0">
                <a:solidFill>
                  <a:srgbClr val="333333"/>
                </a:solidFill>
                <a:latin typeface="FreeSans"/>
              </a:rPr>
              <a:t> </a:t>
            </a:r>
            <a:r>
              <a:rPr lang="en-US" sz="1800" b="0" i="0" u="none" strike="noStrike" baseline="0" dirty="0" err="1">
                <a:solidFill>
                  <a:srgbClr val="333333"/>
                </a:solidFill>
                <a:latin typeface="FreeSans"/>
              </a:rPr>
              <a:t>ghidează</a:t>
            </a:r>
            <a:r>
              <a:rPr lang="en-US" sz="1800" b="0" i="0" u="none" strike="noStrike" baseline="0" dirty="0">
                <a:solidFill>
                  <a:srgbClr val="333333"/>
                </a:solidFill>
                <a:latin typeface="FreeSans"/>
              </a:rPr>
              <a:t> </a:t>
            </a:r>
            <a:r>
              <a:rPr lang="en-US" sz="1800" b="0" i="0" u="none" strike="noStrike" baseline="0" dirty="0" err="1">
                <a:solidFill>
                  <a:srgbClr val="333333"/>
                </a:solidFill>
                <a:latin typeface="FreeSans"/>
              </a:rPr>
              <a:t>activitatea</a:t>
            </a:r>
            <a:r>
              <a:rPr lang="en-US" sz="1800" b="0" i="0" u="none" strike="noStrike" baseline="0" dirty="0">
                <a:solidFill>
                  <a:srgbClr val="333333"/>
                </a:solidFill>
                <a:latin typeface="FreeSans"/>
              </a:rPr>
              <a:t> </a:t>
            </a:r>
            <a:r>
              <a:rPr lang="en-US" sz="1800" b="0" i="0" u="none" strike="noStrike" baseline="0" dirty="0" err="1">
                <a:solidFill>
                  <a:srgbClr val="333333"/>
                </a:solidFill>
                <a:latin typeface="FreeSans"/>
              </a:rPr>
              <a:t>în</a:t>
            </a:r>
            <a:r>
              <a:rPr lang="en-US" sz="1800" b="0" i="0" u="none" strike="noStrike" baseline="0" dirty="0">
                <a:solidFill>
                  <a:srgbClr val="333333"/>
                </a:solidFill>
                <a:latin typeface="FreeSans"/>
              </a:rPr>
              <a:t> </a:t>
            </a:r>
            <a:r>
              <a:rPr lang="en-US" sz="1800" b="0" i="0" u="none" strike="noStrike" baseline="0" dirty="0" err="1">
                <a:solidFill>
                  <a:srgbClr val="333333"/>
                </a:solidFill>
                <a:latin typeface="FreeSans"/>
              </a:rPr>
              <a:t>domeniul</a:t>
            </a:r>
            <a:r>
              <a:rPr lang="en-US" sz="1800" b="0" i="0" u="none" strike="noStrike" baseline="0" dirty="0">
                <a:solidFill>
                  <a:srgbClr val="333333"/>
                </a:solidFill>
                <a:latin typeface="FreeSans"/>
              </a:rPr>
              <a:t> </a:t>
            </a:r>
            <a:r>
              <a:rPr lang="en-US" sz="1800" b="0" i="0" u="none" strike="noStrike" baseline="0" dirty="0" err="1">
                <a:solidFill>
                  <a:srgbClr val="333333"/>
                </a:solidFill>
                <a:latin typeface="FreeSans"/>
              </a:rPr>
              <a:t>educației</a:t>
            </a:r>
            <a:r>
              <a:rPr lang="en-US" sz="1800" b="0" i="0" u="none" strike="noStrike" baseline="0" dirty="0">
                <a:solidFill>
                  <a:srgbClr val="333333"/>
                </a:solidFill>
                <a:latin typeface="FreeSans"/>
              </a:rPr>
              <a:t> </a:t>
            </a:r>
            <a:r>
              <a:rPr lang="en-US" sz="1800" b="0" i="0" u="none" strike="noStrike" baseline="0" dirty="0" err="1">
                <a:solidFill>
                  <a:srgbClr val="333333"/>
                </a:solidFill>
                <a:latin typeface="FreeSans"/>
              </a:rPr>
              <a:t>adulților</a:t>
            </a:r>
            <a:r>
              <a:rPr lang="en-US" sz="1800" b="0" i="0" u="none" strike="noStrike" baseline="0" dirty="0">
                <a:solidFill>
                  <a:srgbClr val="333333"/>
                </a:solidFill>
                <a:latin typeface="FreeSans"/>
              </a:rPr>
              <a:t>.</a:t>
            </a:r>
          </a:p>
          <a:p>
            <a:pPr algn="l"/>
            <a:endParaRPr lang="en-US" sz="1800" b="0" i="0" u="none" strike="noStrike" baseline="0" dirty="0">
              <a:solidFill>
                <a:srgbClr val="333333"/>
              </a:solidFill>
              <a:latin typeface="FreeSans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F80E032-551D-4A64-82A6-E7D2AA2C47C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27717" y="3387799"/>
            <a:ext cx="4317076" cy="249797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5BA7556A-D72E-4BC9-A2DA-6B5C3D41D27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73236" y="3387800"/>
            <a:ext cx="3132825" cy="24979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001279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3529F3-376F-4090-B9FA-E985A22760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ActivitATI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9980EE-57D7-43C6-B623-819D591B9D6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pPr algn="l"/>
            <a:r>
              <a:rPr lang="en-US" sz="1800" b="0" i="0" u="none" strike="noStrike" baseline="0" dirty="0">
                <a:solidFill>
                  <a:srgbClr val="333333"/>
                </a:solidFill>
                <a:latin typeface="FreeSans"/>
              </a:rPr>
              <a:t>Am </a:t>
            </a:r>
            <a:r>
              <a:rPr lang="en-US" sz="1800" b="0" i="0" u="none" strike="noStrike" baseline="0" dirty="0" err="1">
                <a:solidFill>
                  <a:srgbClr val="333333"/>
                </a:solidFill>
                <a:latin typeface="FreeSans"/>
              </a:rPr>
              <a:t>participat</a:t>
            </a:r>
            <a:r>
              <a:rPr lang="en-US" sz="1800" b="0" i="0" u="none" strike="noStrike" baseline="0" dirty="0">
                <a:solidFill>
                  <a:srgbClr val="333333"/>
                </a:solidFill>
                <a:latin typeface="FreeSans"/>
              </a:rPr>
              <a:t> la </a:t>
            </a:r>
            <a:r>
              <a:rPr lang="en-US" sz="1800" b="0" i="0" u="none" strike="noStrike" baseline="0" dirty="0" err="1">
                <a:solidFill>
                  <a:srgbClr val="333333"/>
                </a:solidFill>
                <a:latin typeface="FreeSans"/>
              </a:rPr>
              <a:t>discuții</a:t>
            </a:r>
            <a:r>
              <a:rPr lang="en-US" sz="1800" b="0" i="0" u="none" strike="noStrike" baseline="0" dirty="0">
                <a:solidFill>
                  <a:srgbClr val="333333"/>
                </a:solidFill>
                <a:latin typeface="FreeSans"/>
              </a:rPr>
              <a:t> </a:t>
            </a:r>
            <a:r>
              <a:rPr lang="en-US" sz="1800" b="0" i="0" u="none" strike="noStrike" baseline="0" dirty="0" err="1">
                <a:solidFill>
                  <a:srgbClr val="333333"/>
                </a:solidFill>
                <a:latin typeface="FreeSans"/>
              </a:rPr>
              <a:t>axate</a:t>
            </a:r>
            <a:r>
              <a:rPr lang="en-US" sz="1800" b="0" i="0" u="none" strike="noStrike" baseline="0" dirty="0">
                <a:solidFill>
                  <a:srgbClr val="333333"/>
                </a:solidFill>
                <a:latin typeface="FreeSans"/>
              </a:rPr>
              <a:t> pe </a:t>
            </a:r>
            <a:r>
              <a:rPr lang="en-US" sz="1800" b="0" i="0" u="none" strike="noStrike" baseline="0" dirty="0" err="1">
                <a:solidFill>
                  <a:srgbClr val="333333"/>
                </a:solidFill>
                <a:latin typeface="FreeSans"/>
              </a:rPr>
              <a:t>conștientizarea</a:t>
            </a:r>
            <a:r>
              <a:rPr lang="en-US" sz="1800" b="0" i="0" u="none" strike="noStrike" baseline="0" dirty="0">
                <a:solidFill>
                  <a:srgbClr val="333333"/>
                </a:solidFill>
                <a:latin typeface="FreeSans"/>
              </a:rPr>
              <a:t> </a:t>
            </a:r>
            <a:r>
              <a:rPr lang="en-US" sz="1800" b="0" i="0" u="none" strike="noStrike" baseline="0" dirty="0" err="1">
                <a:solidFill>
                  <a:srgbClr val="333333"/>
                </a:solidFill>
                <a:latin typeface="FreeSans"/>
              </a:rPr>
              <a:t>interculturală</a:t>
            </a:r>
            <a:r>
              <a:rPr lang="en-US" sz="1800" b="0" i="0" u="none" strike="noStrike" baseline="0" dirty="0">
                <a:solidFill>
                  <a:srgbClr val="333333"/>
                </a:solidFill>
                <a:latin typeface="FreeSans"/>
              </a:rPr>
              <a:t> </a:t>
            </a:r>
            <a:r>
              <a:rPr lang="en-US" sz="1800" b="0" i="0" u="none" strike="noStrike" baseline="0" dirty="0" err="1">
                <a:solidFill>
                  <a:srgbClr val="333333"/>
                </a:solidFill>
                <a:latin typeface="FreeSans"/>
              </a:rPr>
              <a:t>și</a:t>
            </a:r>
            <a:r>
              <a:rPr lang="en-US" sz="1800" b="0" i="0" u="none" strike="noStrike" baseline="0" dirty="0">
                <a:solidFill>
                  <a:srgbClr val="333333"/>
                </a:solidFill>
                <a:latin typeface="FreeSans"/>
              </a:rPr>
              <a:t> </a:t>
            </a:r>
            <a:r>
              <a:rPr lang="en-US" sz="1800" b="0" i="0" u="none" strike="noStrike" baseline="0" dirty="0" err="1">
                <a:solidFill>
                  <a:srgbClr val="333333"/>
                </a:solidFill>
                <a:latin typeface="FreeSans"/>
              </a:rPr>
              <a:t>strategiile</a:t>
            </a:r>
            <a:r>
              <a:rPr lang="en-US" sz="1800" b="0" i="0" u="none" strike="noStrike" baseline="0" dirty="0">
                <a:solidFill>
                  <a:srgbClr val="333333"/>
                </a:solidFill>
                <a:latin typeface="FreeSans"/>
              </a:rPr>
              <a:t> de </a:t>
            </a:r>
            <a:r>
              <a:rPr lang="en-US" sz="1800" b="0" i="0" u="none" strike="noStrike" baseline="0" dirty="0" err="1">
                <a:solidFill>
                  <a:srgbClr val="333333"/>
                </a:solidFill>
                <a:latin typeface="FreeSans"/>
              </a:rPr>
              <a:t>incluziune</a:t>
            </a:r>
            <a:r>
              <a:rPr lang="en-US" sz="1800" b="0" i="0" u="none" strike="noStrike" baseline="0" dirty="0">
                <a:solidFill>
                  <a:srgbClr val="333333"/>
                </a:solidFill>
                <a:latin typeface="FreeSans"/>
              </a:rPr>
              <a:t> </a:t>
            </a:r>
            <a:r>
              <a:rPr lang="en-US" sz="1800" b="0" i="0" u="none" strike="noStrike" baseline="0" dirty="0" err="1">
                <a:solidFill>
                  <a:srgbClr val="333333"/>
                </a:solidFill>
                <a:latin typeface="FreeSans"/>
              </a:rPr>
              <a:t>în</a:t>
            </a:r>
            <a:r>
              <a:rPr lang="en-US" sz="1800" b="0" i="0" u="none" strike="noStrike" baseline="0" dirty="0">
                <a:solidFill>
                  <a:srgbClr val="333333"/>
                </a:solidFill>
                <a:latin typeface="FreeSans"/>
              </a:rPr>
              <a:t> </a:t>
            </a:r>
            <a:r>
              <a:rPr lang="en-US" sz="1800" b="0" i="0" u="none" strike="noStrike" baseline="0" dirty="0" err="1">
                <a:solidFill>
                  <a:srgbClr val="333333"/>
                </a:solidFill>
                <a:latin typeface="FreeSans"/>
              </a:rPr>
              <a:t>învățarea</a:t>
            </a:r>
            <a:r>
              <a:rPr lang="en-US" sz="1800" b="0" i="0" u="none" strike="noStrike" baseline="0" dirty="0">
                <a:solidFill>
                  <a:srgbClr val="333333"/>
                </a:solidFill>
                <a:latin typeface="FreeSans"/>
              </a:rPr>
              <a:t> </a:t>
            </a:r>
            <a:r>
              <a:rPr lang="en-US" sz="1800" b="0" i="0" u="none" strike="noStrike" baseline="0" dirty="0" err="1">
                <a:solidFill>
                  <a:srgbClr val="333333"/>
                </a:solidFill>
                <a:latin typeface="FreeSans"/>
              </a:rPr>
              <a:t>adulților</a:t>
            </a:r>
            <a:r>
              <a:rPr lang="en-US" sz="1800" b="0" i="0" u="none" strike="noStrike" baseline="0" dirty="0">
                <a:solidFill>
                  <a:srgbClr val="333333"/>
                </a:solidFill>
                <a:latin typeface="FreeSans"/>
              </a:rPr>
              <a:t>, </a:t>
            </a:r>
            <a:r>
              <a:rPr lang="en-US" sz="1800" b="0" i="0" u="none" strike="noStrike" baseline="0" dirty="0" err="1">
                <a:solidFill>
                  <a:srgbClr val="333333"/>
                </a:solidFill>
                <a:latin typeface="FreeSans"/>
              </a:rPr>
              <a:t>identificând</a:t>
            </a:r>
            <a:r>
              <a:rPr lang="en-US" sz="1800" b="0" i="0" u="none" strike="noStrike" baseline="0" dirty="0">
                <a:solidFill>
                  <a:srgbClr val="333333"/>
                </a:solidFill>
                <a:latin typeface="FreeSans"/>
              </a:rPr>
              <a:t> </a:t>
            </a:r>
            <a:r>
              <a:rPr lang="en-US" sz="1800" b="0" i="0" u="none" strike="noStrike" baseline="0" dirty="0" err="1">
                <a:solidFill>
                  <a:srgbClr val="333333"/>
                </a:solidFill>
                <a:latin typeface="FreeSans"/>
              </a:rPr>
              <a:t>strategii</a:t>
            </a:r>
            <a:r>
              <a:rPr lang="en-US" sz="1800" b="0" i="0" u="none" strike="noStrike" baseline="0" dirty="0">
                <a:solidFill>
                  <a:srgbClr val="333333"/>
                </a:solidFill>
                <a:latin typeface="FreeSans"/>
              </a:rPr>
              <a:t> </a:t>
            </a:r>
            <a:r>
              <a:rPr lang="en-US" sz="1800" b="0" i="0" u="none" strike="noStrike" baseline="0" dirty="0" err="1">
                <a:solidFill>
                  <a:srgbClr val="333333"/>
                </a:solidFill>
                <a:latin typeface="FreeSans"/>
              </a:rPr>
              <a:t>pentru</a:t>
            </a:r>
            <a:r>
              <a:rPr lang="en-US" sz="1800" b="0" i="0" u="none" strike="noStrike" baseline="0" dirty="0">
                <a:solidFill>
                  <a:srgbClr val="333333"/>
                </a:solidFill>
                <a:latin typeface="FreeSans"/>
              </a:rPr>
              <a:t> </a:t>
            </a:r>
            <a:r>
              <a:rPr lang="en-US" sz="1800" b="0" i="0" u="none" strike="noStrike" baseline="0" dirty="0" err="1">
                <a:solidFill>
                  <a:srgbClr val="333333"/>
                </a:solidFill>
                <a:latin typeface="FreeSans"/>
              </a:rPr>
              <a:t>promovarea</a:t>
            </a:r>
            <a:r>
              <a:rPr lang="en-US" sz="1800" b="0" i="0" u="none" strike="noStrike" baseline="0" dirty="0">
                <a:solidFill>
                  <a:srgbClr val="333333"/>
                </a:solidFill>
                <a:latin typeface="FreeSans"/>
              </a:rPr>
              <a:t> </a:t>
            </a:r>
            <a:r>
              <a:rPr lang="en-US" sz="1800" b="0" i="0" u="none" strike="noStrike" baseline="0" dirty="0" err="1">
                <a:solidFill>
                  <a:srgbClr val="333333"/>
                </a:solidFill>
                <a:latin typeface="FreeSans"/>
              </a:rPr>
              <a:t>participării</a:t>
            </a:r>
            <a:r>
              <a:rPr lang="en-US" sz="1800" b="0" i="0" u="none" strike="noStrike" baseline="0" dirty="0">
                <a:solidFill>
                  <a:srgbClr val="333333"/>
                </a:solidFill>
                <a:latin typeface="FreeSans"/>
              </a:rPr>
              <a:t> </a:t>
            </a:r>
            <a:r>
              <a:rPr lang="en-US" sz="1800" b="0" i="0" u="none" strike="noStrike" baseline="0" dirty="0" err="1">
                <a:solidFill>
                  <a:srgbClr val="333333"/>
                </a:solidFill>
                <a:latin typeface="FreeSans"/>
              </a:rPr>
              <a:t>și</a:t>
            </a:r>
            <a:r>
              <a:rPr lang="en-US" sz="1800" b="0" i="0" u="none" strike="noStrike" baseline="0" dirty="0">
                <a:solidFill>
                  <a:srgbClr val="333333"/>
                </a:solidFill>
                <a:latin typeface="FreeSans"/>
              </a:rPr>
              <a:t> </a:t>
            </a:r>
            <a:r>
              <a:rPr lang="en-US" sz="1800" b="0" i="0" u="none" strike="noStrike" baseline="0" dirty="0" err="1">
                <a:solidFill>
                  <a:srgbClr val="333333"/>
                </a:solidFill>
                <a:latin typeface="FreeSans"/>
              </a:rPr>
              <a:t>diversității</a:t>
            </a:r>
            <a:r>
              <a:rPr lang="en-US" sz="1800" b="0" i="0" u="none" strike="noStrike" baseline="0" dirty="0">
                <a:solidFill>
                  <a:srgbClr val="333333"/>
                </a:solidFill>
                <a:latin typeface="FreeSans"/>
              </a:rPr>
              <a:t> </a:t>
            </a:r>
            <a:r>
              <a:rPr lang="en-US" sz="1800" b="0" i="0" u="none" strike="noStrike" baseline="0" dirty="0" err="1">
                <a:solidFill>
                  <a:srgbClr val="333333"/>
                </a:solidFill>
                <a:latin typeface="FreeSans"/>
              </a:rPr>
              <a:t>în</a:t>
            </a:r>
            <a:r>
              <a:rPr lang="en-US" sz="1800" b="0" i="0" u="none" strike="noStrike" baseline="0" dirty="0">
                <a:solidFill>
                  <a:srgbClr val="333333"/>
                </a:solidFill>
                <a:latin typeface="FreeSans"/>
              </a:rPr>
              <a:t> </a:t>
            </a:r>
            <a:r>
              <a:rPr lang="en-US" sz="1800" b="0" i="0" u="none" strike="noStrike" baseline="0" dirty="0" err="1">
                <a:solidFill>
                  <a:srgbClr val="333333"/>
                </a:solidFill>
                <a:latin typeface="FreeSans"/>
              </a:rPr>
              <a:t>mediile</a:t>
            </a:r>
            <a:r>
              <a:rPr lang="en-US" sz="1800" b="0" i="0" u="none" strike="noStrike" baseline="0" dirty="0">
                <a:solidFill>
                  <a:srgbClr val="333333"/>
                </a:solidFill>
                <a:latin typeface="FreeSans"/>
              </a:rPr>
              <a:t> </a:t>
            </a:r>
            <a:r>
              <a:rPr lang="en-US" sz="1800" b="0" i="0" u="none" strike="noStrike" baseline="0" dirty="0" err="1">
                <a:solidFill>
                  <a:srgbClr val="333333"/>
                </a:solidFill>
                <a:latin typeface="FreeSans"/>
              </a:rPr>
              <a:t>educaționale</a:t>
            </a:r>
            <a:r>
              <a:rPr lang="en-US" sz="1800" b="0" i="0" u="none" strike="noStrike" baseline="0" dirty="0">
                <a:solidFill>
                  <a:srgbClr val="333333"/>
                </a:solidFill>
                <a:latin typeface="FreeSans"/>
              </a:rPr>
              <a:t>.</a:t>
            </a:r>
          </a:p>
          <a:p>
            <a:pPr algn="l"/>
            <a:endParaRPr lang="en-US" sz="1800" b="0" i="0" u="none" strike="noStrike" baseline="0" dirty="0">
              <a:solidFill>
                <a:srgbClr val="333333"/>
              </a:solidFill>
              <a:latin typeface="FreeSans"/>
            </a:endParaRPr>
          </a:p>
          <a:p>
            <a:pPr algn="l"/>
            <a:r>
              <a:rPr lang="en-US" sz="1800" b="0" i="0" u="none" strike="noStrike" baseline="0" dirty="0">
                <a:solidFill>
                  <a:srgbClr val="333333"/>
                </a:solidFill>
                <a:latin typeface="FreeSans"/>
              </a:rPr>
              <a:t>Am </a:t>
            </a:r>
            <a:r>
              <a:rPr lang="en-US" sz="1800" b="0" i="0" u="none" strike="noStrike" baseline="0" dirty="0" err="1">
                <a:solidFill>
                  <a:srgbClr val="333333"/>
                </a:solidFill>
                <a:latin typeface="FreeSans"/>
              </a:rPr>
              <a:t>participat</a:t>
            </a:r>
            <a:r>
              <a:rPr lang="en-US" sz="1800" b="0" i="0" u="none" strike="noStrike" baseline="0" dirty="0">
                <a:solidFill>
                  <a:srgbClr val="333333"/>
                </a:solidFill>
                <a:latin typeface="FreeSans"/>
              </a:rPr>
              <a:t> ca </a:t>
            </a:r>
            <a:r>
              <a:rPr lang="en-US" sz="1800" b="0" i="0" u="none" strike="noStrike" baseline="0" dirty="0" err="1">
                <a:solidFill>
                  <a:srgbClr val="333333"/>
                </a:solidFill>
                <a:latin typeface="FreeSans"/>
              </a:rPr>
              <a:t>observatori</a:t>
            </a:r>
            <a:r>
              <a:rPr lang="en-US" sz="1800" b="0" i="0" u="none" strike="noStrike" baseline="0" dirty="0">
                <a:solidFill>
                  <a:srgbClr val="333333"/>
                </a:solidFill>
                <a:latin typeface="FreeSans"/>
              </a:rPr>
              <a:t> la </a:t>
            </a:r>
            <a:r>
              <a:rPr lang="en-US" sz="1800" b="0" i="0" u="none" strike="noStrike" baseline="0" dirty="0" err="1">
                <a:solidFill>
                  <a:srgbClr val="333333"/>
                </a:solidFill>
                <a:latin typeface="FreeSans"/>
              </a:rPr>
              <a:t>sesiuni</a:t>
            </a:r>
            <a:r>
              <a:rPr lang="en-US" sz="1800" b="0" i="0" u="none" strike="noStrike" baseline="0" dirty="0">
                <a:solidFill>
                  <a:srgbClr val="333333"/>
                </a:solidFill>
                <a:latin typeface="FreeSans"/>
              </a:rPr>
              <a:t> de </a:t>
            </a:r>
            <a:r>
              <a:rPr lang="en-US" sz="1800" b="0" i="0" u="none" strike="noStrike" baseline="0" dirty="0" err="1">
                <a:solidFill>
                  <a:srgbClr val="333333"/>
                </a:solidFill>
                <a:latin typeface="FreeSans"/>
              </a:rPr>
              <a:t>formare</a:t>
            </a:r>
            <a:r>
              <a:rPr lang="en-US" sz="1800" b="0" i="0" u="none" strike="noStrike" baseline="0" dirty="0">
                <a:solidFill>
                  <a:srgbClr val="333333"/>
                </a:solidFill>
                <a:latin typeface="FreeSans"/>
              </a:rPr>
              <a:t> dedicate </a:t>
            </a:r>
            <a:r>
              <a:rPr lang="en-US" sz="1800" b="0" i="0" u="none" strike="noStrike" baseline="0" dirty="0" err="1">
                <a:solidFill>
                  <a:srgbClr val="333333"/>
                </a:solidFill>
                <a:latin typeface="FreeSans"/>
              </a:rPr>
              <a:t>sprijinirii</a:t>
            </a:r>
            <a:r>
              <a:rPr lang="en-US" sz="1800" b="0" i="0" u="none" strike="noStrike" baseline="0" dirty="0">
                <a:solidFill>
                  <a:srgbClr val="333333"/>
                </a:solidFill>
                <a:latin typeface="FreeSans"/>
              </a:rPr>
              <a:t> </a:t>
            </a:r>
            <a:r>
              <a:rPr lang="en-US" sz="1800" b="0" i="0" u="none" strike="noStrike" baseline="0" dirty="0" err="1">
                <a:solidFill>
                  <a:srgbClr val="333333"/>
                </a:solidFill>
                <a:latin typeface="FreeSans"/>
              </a:rPr>
              <a:t>grupurilor</a:t>
            </a:r>
            <a:r>
              <a:rPr lang="en-US" sz="1800" b="0" i="0" u="none" strike="noStrike" baseline="0" dirty="0">
                <a:solidFill>
                  <a:srgbClr val="333333"/>
                </a:solidFill>
                <a:latin typeface="FreeSans"/>
              </a:rPr>
              <a:t> </a:t>
            </a:r>
            <a:r>
              <a:rPr lang="en-US" sz="1800" b="0" i="0" u="none" strike="noStrike" baseline="0" dirty="0" err="1">
                <a:solidFill>
                  <a:srgbClr val="333333"/>
                </a:solidFill>
                <a:latin typeface="FreeSans"/>
              </a:rPr>
              <a:t>defavorizate</a:t>
            </a:r>
            <a:r>
              <a:rPr lang="en-US" sz="1800" b="0" i="0" u="none" strike="noStrike" baseline="0" dirty="0">
                <a:solidFill>
                  <a:srgbClr val="333333"/>
                </a:solidFill>
                <a:latin typeface="FreeSans"/>
              </a:rPr>
              <a:t> </a:t>
            </a:r>
            <a:r>
              <a:rPr lang="en-US" sz="1800" b="0" i="0" u="none" strike="noStrike" baseline="0" dirty="0" err="1">
                <a:solidFill>
                  <a:srgbClr val="333333"/>
                </a:solidFill>
                <a:latin typeface="FreeSans"/>
              </a:rPr>
              <a:t>și</a:t>
            </a:r>
            <a:r>
              <a:rPr lang="en-US" sz="1800" b="0" i="0" u="none" strike="noStrike" baseline="0" dirty="0">
                <a:solidFill>
                  <a:srgbClr val="333333"/>
                </a:solidFill>
                <a:latin typeface="FreeSans"/>
              </a:rPr>
              <a:t> </a:t>
            </a:r>
            <a:r>
              <a:rPr lang="en-US" sz="1800" b="0" i="0" u="none" strike="noStrike" baseline="0" dirty="0" err="1">
                <a:solidFill>
                  <a:srgbClr val="333333"/>
                </a:solidFill>
                <a:latin typeface="FreeSans"/>
              </a:rPr>
              <a:t>vulnerabile</a:t>
            </a:r>
            <a:r>
              <a:rPr lang="en-US" sz="1800" b="0" i="0" u="none" strike="noStrike" baseline="0" dirty="0">
                <a:solidFill>
                  <a:srgbClr val="333333"/>
                </a:solidFill>
                <a:latin typeface="FreeSans"/>
              </a:rPr>
              <a:t>, </a:t>
            </a:r>
            <a:r>
              <a:rPr lang="en-US" sz="1800" b="0" i="0" u="none" strike="noStrike" baseline="0" dirty="0" err="1">
                <a:solidFill>
                  <a:srgbClr val="333333"/>
                </a:solidFill>
                <a:latin typeface="FreeSans"/>
              </a:rPr>
              <a:t>analizând</a:t>
            </a:r>
            <a:r>
              <a:rPr lang="en-US" sz="1800" b="0" i="0" u="none" strike="noStrike" baseline="0" dirty="0">
                <a:solidFill>
                  <a:srgbClr val="333333"/>
                </a:solidFill>
                <a:latin typeface="FreeSans"/>
              </a:rPr>
              <a:t> </a:t>
            </a:r>
            <a:r>
              <a:rPr lang="en-US" sz="1800" b="0" i="0" u="none" strike="noStrike" baseline="0" dirty="0" err="1">
                <a:solidFill>
                  <a:srgbClr val="333333"/>
                </a:solidFill>
                <a:latin typeface="FreeSans"/>
              </a:rPr>
              <a:t>metodele</a:t>
            </a:r>
            <a:r>
              <a:rPr lang="en-US" sz="1800" b="0" i="0" u="none" strike="noStrike" baseline="0" dirty="0">
                <a:solidFill>
                  <a:srgbClr val="333333"/>
                </a:solidFill>
                <a:latin typeface="FreeSans"/>
              </a:rPr>
              <a:t> </a:t>
            </a:r>
            <a:r>
              <a:rPr lang="en-US" sz="1800" b="0" i="0" u="none" strike="noStrike" baseline="0" dirty="0" err="1">
                <a:solidFill>
                  <a:srgbClr val="333333"/>
                </a:solidFill>
                <a:latin typeface="FreeSans"/>
              </a:rPr>
              <a:t>și</a:t>
            </a:r>
            <a:r>
              <a:rPr lang="en-US" sz="1800" b="0" i="0" u="none" strike="noStrike" baseline="0" dirty="0">
                <a:solidFill>
                  <a:srgbClr val="333333"/>
                </a:solidFill>
                <a:latin typeface="FreeSans"/>
              </a:rPr>
              <a:t> </a:t>
            </a:r>
            <a:r>
              <a:rPr lang="en-US" sz="1800" b="0" i="0" u="none" strike="noStrike" baseline="0" dirty="0" err="1">
                <a:solidFill>
                  <a:srgbClr val="333333"/>
                </a:solidFill>
                <a:latin typeface="FreeSans"/>
              </a:rPr>
              <a:t>instrumentele</a:t>
            </a:r>
            <a:r>
              <a:rPr lang="en-US" sz="1800" b="0" i="0" u="none" strike="noStrike" baseline="0" dirty="0">
                <a:solidFill>
                  <a:srgbClr val="333333"/>
                </a:solidFill>
                <a:latin typeface="FreeSans"/>
              </a:rPr>
              <a:t> </a:t>
            </a:r>
            <a:r>
              <a:rPr lang="en-US" sz="1800" b="0" i="0" u="none" strike="noStrike" baseline="0" dirty="0" err="1">
                <a:solidFill>
                  <a:srgbClr val="333333"/>
                </a:solidFill>
                <a:latin typeface="FreeSans"/>
              </a:rPr>
              <a:t>utilizate</a:t>
            </a:r>
            <a:r>
              <a:rPr lang="en-US" sz="1800" b="0" i="0" u="none" strike="noStrike" baseline="0" dirty="0">
                <a:solidFill>
                  <a:srgbClr val="333333"/>
                </a:solidFill>
                <a:latin typeface="FreeSans"/>
              </a:rPr>
              <a:t> </a:t>
            </a:r>
            <a:r>
              <a:rPr lang="en-US" sz="1800" b="0" i="0" u="none" strike="noStrike" baseline="0" dirty="0" err="1">
                <a:solidFill>
                  <a:srgbClr val="333333"/>
                </a:solidFill>
                <a:latin typeface="FreeSans"/>
              </a:rPr>
              <a:t>pentru</a:t>
            </a:r>
            <a:r>
              <a:rPr lang="en-US" sz="1800" b="0" i="0" u="none" strike="noStrike" baseline="0" dirty="0">
                <a:solidFill>
                  <a:srgbClr val="333333"/>
                </a:solidFill>
                <a:latin typeface="FreeSans"/>
              </a:rPr>
              <a:t> a </a:t>
            </a:r>
            <a:r>
              <a:rPr lang="en-US" sz="1800" b="0" i="0" u="none" strike="noStrike" baseline="0" dirty="0" err="1">
                <a:solidFill>
                  <a:srgbClr val="333333"/>
                </a:solidFill>
                <a:latin typeface="FreeSans"/>
              </a:rPr>
              <a:t>asigura</a:t>
            </a:r>
            <a:r>
              <a:rPr lang="en-US" sz="1800" b="0" i="0" u="none" strike="noStrike" baseline="0" dirty="0">
                <a:solidFill>
                  <a:srgbClr val="333333"/>
                </a:solidFill>
                <a:latin typeface="FreeSans"/>
              </a:rPr>
              <a:t> </a:t>
            </a:r>
            <a:r>
              <a:rPr lang="en-US" sz="1800" b="0" i="0" u="none" strike="noStrike" baseline="0" dirty="0" err="1">
                <a:solidFill>
                  <a:srgbClr val="333333"/>
                </a:solidFill>
                <a:latin typeface="FreeSans"/>
              </a:rPr>
              <a:t>accesibilitatea</a:t>
            </a:r>
            <a:r>
              <a:rPr lang="en-US" sz="1800" b="0" i="0" u="none" strike="noStrike" baseline="0" dirty="0">
                <a:solidFill>
                  <a:srgbClr val="333333"/>
                </a:solidFill>
                <a:latin typeface="FreeSans"/>
              </a:rPr>
              <a:t> </a:t>
            </a:r>
            <a:r>
              <a:rPr lang="en-US" sz="1800" b="0" i="0" u="none" strike="noStrike" baseline="0" dirty="0" err="1">
                <a:solidFill>
                  <a:srgbClr val="333333"/>
                </a:solidFill>
                <a:latin typeface="FreeSans"/>
              </a:rPr>
              <a:t>și</a:t>
            </a:r>
            <a:r>
              <a:rPr lang="en-US" sz="1800" b="0" i="0" u="none" strike="noStrike" baseline="0" dirty="0">
                <a:solidFill>
                  <a:srgbClr val="333333"/>
                </a:solidFill>
                <a:latin typeface="FreeSans"/>
              </a:rPr>
              <a:t> </a:t>
            </a:r>
            <a:r>
              <a:rPr lang="en-US" sz="1800" b="0" i="0" u="none" strike="noStrike" baseline="0" dirty="0" err="1">
                <a:solidFill>
                  <a:srgbClr val="333333"/>
                </a:solidFill>
                <a:latin typeface="FreeSans"/>
              </a:rPr>
              <a:t>participarea</a:t>
            </a:r>
            <a:r>
              <a:rPr lang="en-US" sz="1800" b="0" i="0" u="none" strike="noStrike" baseline="0" dirty="0">
                <a:solidFill>
                  <a:srgbClr val="333333"/>
                </a:solidFill>
                <a:latin typeface="FreeSans"/>
              </a:rPr>
              <a:t> </a:t>
            </a:r>
            <a:r>
              <a:rPr lang="en-US" sz="1800" b="0" i="0" u="none" strike="noStrike" baseline="0" dirty="0" err="1">
                <a:solidFill>
                  <a:srgbClr val="333333"/>
                </a:solidFill>
                <a:latin typeface="FreeSans"/>
              </a:rPr>
              <a:t>activă</a:t>
            </a:r>
            <a:r>
              <a:rPr lang="en-US" sz="1800" b="0" i="0" u="none" strike="noStrike" baseline="0" dirty="0">
                <a:solidFill>
                  <a:srgbClr val="333333"/>
                </a:solidFill>
                <a:latin typeface="FreeSans"/>
              </a:rPr>
              <a:t>.</a:t>
            </a:r>
          </a:p>
          <a:p>
            <a:pPr algn="l"/>
            <a:endParaRPr lang="en-US" sz="1800" b="0" i="0" u="none" strike="noStrike" baseline="0" dirty="0">
              <a:solidFill>
                <a:srgbClr val="333333"/>
              </a:solidFill>
              <a:latin typeface="FreeSans"/>
            </a:endParaRPr>
          </a:p>
          <a:p>
            <a:pPr algn="l"/>
            <a:r>
              <a:rPr lang="en-US" sz="1800" b="0" i="0" u="none" strike="noStrike" baseline="0" dirty="0">
                <a:solidFill>
                  <a:srgbClr val="333333"/>
                </a:solidFill>
                <a:latin typeface="FreeSans"/>
              </a:rPr>
              <a:t>Am </a:t>
            </a:r>
            <a:r>
              <a:rPr lang="en-US" sz="1800" b="0" i="0" u="none" strike="noStrike" baseline="0" dirty="0" err="1">
                <a:solidFill>
                  <a:srgbClr val="333333"/>
                </a:solidFill>
                <a:latin typeface="FreeSans"/>
              </a:rPr>
              <a:t>participat</a:t>
            </a:r>
            <a:r>
              <a:rPr lang="en-US" sz="1800" b="0" i="0" u="none" strike="noStrike" baseline="0" dirty="0">
                <a:solidFill>
                  <a:srgbClr val="333333"/>
                </a:solidFill>
                <a:latin typeface="FreeSans"/>
              </a:rPr>
              <a:t> la </a:t>
            </a:r>
            <a:r>
              <a:rPr lang="en-US" sz="1800" b="0" i="0" u="none" strike="noStrike" baseline="0" dirty="0" err="1">
                <a:solidFill>
                  <a:srgbClr val="333333"/>
                </a:solidFill>
                <a:latin typeface="FreeSans"/>
              </a:rPr>
              <a:t>activități</a:t>
            </a:r>
            <a:r>
              <a:rPr lang="en-US" sz="1800" b="0" i="0" u="none" strike="noStrike" baseline="0" dirty="0">
                <a:solidFill>
                  <a:srgbClr val="333333"/>
                </a:solidFill>
                <a:latin typeface="FreeSans"/>
              </a:rPr>
              <a:t> </a:t>
            </a:r>
            <a:r>
              <a:rPr lang="en-US" sz="1800" b="0" i="0" u="none" strike="noStrike" baseline="0" dirty="0" err="1">
                <a:solidFill>
                  <a:srgbClr val="333333"/>
                </a:solidFill>
                <a:latin typeface="FreeSans"/>
              </a:rPr>
              <a:t>educaționale</a:t>
            </a:r>
            <a:r>
              <a:rPr lang="en-US" sz="1800" b="0" i="0" u="none" strike="noStrike" baseline="0" dirty="0">
                <a:solidFill>
                  <a:srgbClr val="333333"/>
                </a:solidFill>
                <a:latin typeface="FreeSans"/>
              </a:rPr>
              <a:t> </a:t>
            </a:r>
            <a:r>
              <a:rPr lang="en-US" sz="1800" b="0" i="0" u="none" strike="noStrike" baseline="0" dirty="0" err="1">
                <a:solidFill>
                  <a:srgbClr val="333333"/>
                </a:solidFill>
                <a:latin typeface="FreeSans"/>
              </a:rPr>
              <a:t>axate</a:t>
            </a:r>
            <a:r>
              <a:rPr lang="en-US" sz="1800" b="0" i="0" u="none" strike="noStrike" baseline="0" dirty="0">
                <a:solidFill>
                  <a:srgbClr val="333333"/>
                </a:solidFill>
                <a:latin typeface="FreeSans"/>
              </a:rPr>
              <a:t> pe </a:t>
            </a:r>
            <a:r>
              <a:rPr lang="en-US" sz="1800" b="0" i="0" u="none" strike="noStrike" baseline="0" dirty="0" err="1">
                <a:solidFill>
                  <a:srgbClr val="333333"/>
                </a:solidFill>
                <a:latin typeface="FreeSans"/>
              </a:rPr>
              <a:t>competențe</a:t>
            </a:r>
            <a:r>
              <a:rPr lang="en-US" sz="1800" b="0" i="0" u="none" strike="noStrike" baseline="0" dirty="0">
                <a:solidFill>
                  <a:srgbClr val="333333"/>
                </a:solidFill>
                <a:latin typeface="FreeSans"/>
              </a:rPr>
              <a:t> </a:t>
            </a:r>
            <a:r>
              <a:rPr lang="en-US" sz="1800" b="0" i="0" u="none" strike="noStrike" baseline="0" dirty="0" err="1">
                <a:solidFill>
                  <a:srgbClr val="333333"/>
                </a:solidFill>
                <a:latin typeface="FreeSans"/>
              </a:rPr>
              <a:t>antreprenoriale</a:t>
            </a:r>
            <a:r>
              <a:rPr lang="en-US" sz="1800" b="0" i="0" u="none" strike="noStrike" baseline="0" dirty="0">
                <a:solidFill>
                  <a:srgbClr val="333333"/>
                </a:solidFill>
                <a:latin typeface="FreeSans"/>
              </a:rPr>
              <a:t> </a:t>
            </a:r>
            <a:r>
              <a:rPr lang="en-US" sz="1800" b="0" i="0" u="none" strike="noStrike" baseline="0" dirty="0" err="1">
                <a:solidFill>
                  <a:srgbClr val="333333"/>
                </a:solidFill>
                <a:latin typeface="FreeSans"/>
              </a:rPr>
              <a:t>și</a:t>
            </a:r>
            <a:r>
              <a:rPr lang="en-US" sz="1800" b="0" i="0" u="none" strike="noStrike" baseline="0" dirty="0">
                <a:solidFill>
                  <a:srgbClr val="333333"/>
                </a:solidFill>
                <a:latin typeface="FreeSans"/>
              </a:rPr>
              <a:t> </a:t>
            </a:r>
            <a:r>
              <a:rPr lang="en-US" sz="1800" b="0" i="0" u="none" strike="noStrike" baseline="0" dirty="0" err="1">
                <a:solidFill>
                  <a:srgbClr val="333333"/>
                </a:solidFill>
                <a:latin typeface="FreeSans"/>
              </a:rPr>
              <a:t>orientare</a:t>
            </a:r>
            <a:r>
              <a:rPr lang="en-US" sz="1800" b="0" i="0" u="none" strike="noStrike" baseline="0" dirty="0">
                <a:solidFill>
                  <a:srgbClr val="333333"/>
                </a:solidFill>
                <a:latin typeface="FreeSans"/>
              </a:rPr>
              <a:t> </a:t>
            </a:r>
            <a:r>
              <a:rPr lang="en-US" sz="1800" b="0" i="0" u="none" strike="noStrike" baseline="0" dirty="0" err="1">
                <a:solidFill>
                  <a:srgbClr val="333333"/>
                </a:solidFill>
                <a:latin typeface="FreeSans"/>
              </a:rPr>
              <a:t>profesională</a:t>
            </a:r>
            <a:r>
              <a:rPr lang="en-US" sz="1800" b="0" i="0" u="none" strike="noStrike" baseline="0" dirty="0">
                <a:solidFill>
                  <a:srgbClr val="333333"/>
                </a:solidFill>
                <a:latin typeface="FreeSans"/>
              </a:rPr>
              <a:t>, </a:t>
            </a:r>
            <a:r>
              <a:rPr lang="en-US" sz="1800" b="0" i="0" u="none" strike="noStrike" baseline="0" dirty="0" err="1">
                <a:solidFill>
                  <a:srgbClr val="333333"/>
                </a:solidFill>
                <a:latin typeface="FreeSans"/>
              </a:rPr>
              <a:t>implicându</a:t>
            </a:r>
            <a:r>
              <a:rPr lang="en-US" sz="1800" b="0" i="0" u="none" strike="noStrike" baseline="0" dirty="0">
                <a:solidFill>
                  <a:srgbClr val="333333"/>
                </a:solidFill>
                <a:latin typeface="FreeSans"/>
              </a:rPr>
              <a:t>-ne </a:t>
            </a:r>
            <a:r>
              <a:rPr lang="en-US" sz="1800" b="0" i="0" u="none" strike="noStrike" baseline="0" dirty="0" err="1">
                <a:solidFill>
                  <a:srgbClr val="333333"/>
                </a:solidFill>
                <a:latin typeface="FreeSans"/>
              </a:rPr>
              <a:t>în</a:t>
            </a:r>
            <a:r>
              <a:rPr lang="en-US" sz="1800" b="0" i="0" u="none" strike="noStrike" baseline="0" dirty="0">
                <a:solidFill>
                  <a:srgbClr val="333333"/>
                </a:solidFill>
                <a:latin typeface="FreeSans"/>
              </a:rPr>
              <a:t> </a:t>
            </a:r>
            <a:r>
              <a:rPr lang="en-US" sz="1800" b="0" i="0" u="none" strike="noStrike" baseline="0" dirty="0" err="1">
                <a:solidFill>
                  <a:srgbClr val="333333"/>
                </a:solidFill>
                <a:latin typeface="FreeSans"/>
              </a:rPr>
              <a:t>schimburi</a:t>
            </a:r>
            <a:r>
              <a:rPr lang="en-US" sz="1800" b="0" i="0" u="none" strike="noStrike" baseline="0" dirty="0">
                <a:solidFill>
                  <a:srgbClr val="333333"/>
                </a:solidFill>
                <a:latin typeface="FreeSans"/>
              </a:rPr>
              <a:t> de </a:t>
            </a:r>
            <a:r>
              <a:rPr lang="en-US" sz="1800" b="0" i="0" u="none" strike="noStrike" baseline="0" dirty="0" err="1">
                <a:solidFill>
                  <a:srgbClr val="333333"/>
                </a:solidFill>
                <a:latin typeface="FreeSans"/>
              </a:rPr>
              <a:t>bune</a:t>
            </a:r>
            <a:r>
              <a:rPr lang="en-US" sz="1800" b="0" i="0" u="none" strike="noStrike" baseline="0" dirty="0">
                <a:solidFill>
                  <a:srgbClr val="333333"/>
                </a:solidFill>
                <a:latin typeface="FreeSans"/>
              </a:rPr>
              <a:t> </a:t>
            </a:r>
            <a:r>
              <a:rPr lang="en-US" sz="1800" b="0" i="0" u="none" strike="noStrike" baseline="0" dirty="0" err="1">
                <a:solidFill>
                  <a:srgbClr val="333333"/>
                </a:solidFill>
                <a:latin typeface="FreeSans"/>
              </a:rPr>
              <a:t>practici</a:t>
            </a:r>
            <a:r>
              <a:rPr lang="en-US" sz="1800" b="0" i="0" u="none" strike="noStrike" baseline="0" dirty="0">
                <a:solidFill>
                  <a:srgbClr val="333333"/>
                </a:solidFill>
                <a:latin typeface="FreeSans"/>
              </a:rPr>
              <a:t> cu </a:t>
            </a:r>
            <a:r>
              <a:rPr lang="en-US" sz="1800" b="0" i="0" u="none" strike="noStrike" baseline="0" dirty="0" err="1">
                <a:solidFill>
                  <a:srgbClr val="333333"/>
                </a:solidFill>
                <a:latin typeface="FreeSans"/>
              </a:rPr>
              <a:t>organizația</a:t>
            </a:r>
            <a:r>
              <a:rPr lang="en-US" sz="1800" b="0" i="0" u="none" strike="noStrike" baseline="0" dirty="0">
                <a:solidFill>
                  <a:srgbClr val="333333"/>
                </a:solidFill>
                <a:latin typeface="FreeSans"/>
              </a:rPr>
              <a:t> </a:t>
            </a:r>
            <a:r>
              <a:rPr lang="en-US" sz="1800" b="0" i="0" u="none" strike="noStrike" baseline="0" dirty="0" err="1">
                <a:solidFill>
                  <a:srgbClr val="333333"/>
                </a:solidFill>
                <a:latin typeface="FreeSans"/>
              </a:rPr>
              <a:t>gazdă</a:t>
            </a:r>
            <a:r>
              <a:rPr lang="en-US" sz="1800" b="0" i="0" u="none" strike="noStrike" baseline="0" dirty="0">
                <a:solidFill>
                  <a:srgbClr val="333333"/>
                </a:solidFill>
                <a:latin typeface="FreeSans"/>
              </a:rPr>
              <a:t>.</a:t>
            </a:r>
          </a:p>
          <a:p>
            <a:pPr algn="l"/>
            <a:endParaRPr lang="en-US" sz="1800" b="0" i="0" u="none" strike="noStrike" baseline="0" dirty="0">
              <a:solidFill>
                <a:srgbClr val="333333"/>
              </a:solidFill>
              <a:latin typeface="FreeSans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4270B6D-4F76-42AA-92ED-F2E64FA5F26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49286" y="232756"/>
            <a:ext cx="2826329" cy="1620998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0B476E0D-6E88-483F-BCB4-0DCA949716B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91992" y="232754"/>
            <a:ext cx="2081330" cy="1620999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0970A4C0-99FE-40EC-B42F-D840D9CFDF7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31509" y="232754"/>
            <a:ext cx="2081331" cy="1620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28008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31F210-4407-4281-9F84-A62F389744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ActivitATI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E43670-51CD-4B06-972C-79E765DCDA4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l"/>
            <a:r>
              <a:rPr lang="en-US" sz="1800" b="0" i="0" u="none" strike="noStrike" baseline="0" dirty="0">
                <a:solidFill>
                  <a:srgbClr val="333333"/>
                </a:solidFill>
                <a:latin typeface="FreeSans"/>
              </a:rPr>
              <a:t>Am </a:t>
            </a:r>
            <a:r>
              <a:rPr lang="en-US" sz="1800" b="0" i="0" u="none" strike="noStrike" baseline="0" dirty="0" err="1">
                <a:solidFill>
                  <a:srgbClr val="333333"/>
                </a:solidFill>
                <a:latin typeface="FreeSans"/>
              </a:rPr>
              <a:t>vizitat</a:t>
            </a:r>
            <a:r>
              <a:rPr lang="en-US" sz="1800" b="0" i="0" u="none" strike="noStrike" baseline="0" dirty="0">
                <a:solidFill>
                  <a:srgbClr val="333333"/>
                </a:solidFill>
                <a:latin typeface="FreeSans"/>
              </a:rPr>
              <a:t> o </a:t>
            </a:r>
            <a:r>
              <a:rPr lang="en-US" sz="1800" b="0" i="0" u="none" strike="noStrike" baseline="0" dirty="0" err="1">
                <a:solidFill>
                  <a:srgbClr val="333333"/>
                </a:solidFill>
                <a:latin typeface="FreeSans"/>
              </a:rPr>
              <a:t>școală</a:t>
            </a:r>
            <a:r>
              <a:rPr lang="en-US" sz="1800" b="0" i="0" u="none" strike="noStrike" baseline="0" dirty="0">
                <a:solidFill>
                  <a:srgbClr val="333333"/>
                </a:solidFill>
                <a:latin typeface="FreeSans"/>
              </a:rPr>
              <a:t> </a:t>
            </a:r>
            <a:r>
              <a:rPr lang="en-US" sz="1800" b="0" i="0" u="none" strike="noStrike" baseline="0" dirty="0" err="1">
                <a:solidFill>
                  <a:srgbClr val="333333"/>
                </a:solidFill>
                <a:latin typeface="FreeSans"/>
              </a:rPr>
              <a:t>locală</a:t>
            </a:r>
            <a:r>
              <a:rPr lang="en-US" sz="1800" b="0" i="0" u="none" strike="noStrike" baseline="0" dirty="0">
                <a:solidFill>
                  <a:srgbClr val="333333"/>
                </a:solidFill>
                <a:latin typeface="FreeSans"/>
              </a:rPr>
              <a:t> din </a:t>
            </a:r>
            <a:r>
              <a:rPr lang="en-US" sz="1800" b="0" i="0" u="none" strike="noStrike" baseline="0" dirty="0" err="1">
                <a:solidFill>
                  <a:srgbClr val="333333"/>
                </a:solidFill>
                <a:latin typeface="FreeSans"/>
              </a:rPr>
              <a:t>Vizela</a:t>
            </a:r>
            <a:r>
              <a:rPr lang="en-US" sz="1800" b="0" i="0" u="none" strike="noStrike" baseline="0" dirty="0">
                <a:solidFill>
                  <a:srgbClr val="333333"/>
                </a:solidFill>
                <a:latin typeface="FreeSans"/>
              </a:rPr>
              <a:t> care </a:t>
            </a:r>
            <a:r>
              <a:rPr lang="en-US" sz="1800" b="0" i="0" u="none" strike="noStrike" baseline="0" dirty="0" err="1">
                <a:solidFill>
                  <a:srgbClr val="333333"/>
                </a:solidFill>
                <a:latin typeface="FreeSans"/>
              </a:rPr>
              <a:t>oferă</a:t>
            </a:r>
            <a:r>
              <a:rPr lang="en-US" sz="1800" b="0" i="0" u="none" strike="noStrike" baseline="0" dirty="0">
                <a:solidFill>
                  <a:srgbClr val="333333"/>
                </a:solidFill>
                <a:latin typeface="FreeSans"/>
              </a:rPr>
              <a:t> </a:t>
            </a:r>
            <a:r>
              <a:rPr lang="en-US" sz="1800" b="0" i="0" u="none" strike="noStrike" baseline="0" dirty="0" err="1">
                <a:solidFill>
                  <a:srgbClr val="333333"/>
                </a:solidFill>
                <a:latin typeface="FreeSans"/>
              </a:rPr>
              <a:t>toate</a:t>
            </a:r>
            <a:r>
              <a:rPr lang="en-US" sz="1800" b="0" i="0" u="none" strike="noStrike" baseline="0" dirty="0">
                <a:solidFill>
                  <a:srgbClr val="333333"/>
                </a:solidFill>
                <a:latin typeface="FreeSans"/>
              </a:rPr>
              <a:t> </a:t>
            </a:r>
            <a:r>
              <a:rPr lang="en-US" sz="1800" b="0" i="0" u="none" strike="noStrike" baseline="0" dirty="0" err="1">
                <a:solidFill>
                  <a:srgbClr val="333333"/>
                </a:solidFill>
                <a:latin typeface="FreeSans"/>
              </a:rPr>
              <a:t>nivelurile</a:t>
            </a:r>
            <a:r>
              <a:rPr lang="en-US" sz="1800" b="0" i="0" u="none" strike="noStrike" baseline="0" dirty="0">
                <a:solidFill>
                  <a:srgbClr val="333333"/>
                </a:solidFill>
                <a:latin typeface="FreeSans"/>
              </a:rPr>
              <a:t> de </a:t>
            </a:r>
            <a:r>
              <a:rPr lang="en-US" sz="1800" b="0" i="0" u="none" strike="noStrike" baseline="0" dirty="0" err="1">
                <a:solidFill>
                  <a:srgbClr val="333333"/>
                </a:solidFill>
                <a:latin typeface="FreeSans"/>
              </a:rPr>
              <a:t>educație</a:t>
            </a:r>
            <a:r>
              <a:rPr lang="en-US" sz="1800" b="0" i="0" u="none" strike="noStrike" baseline="0" dirty="0">
                <a:solidFill>
                  <a:srgbClr val="333333"/>
                </a:solidFill>
                <a:latin typeface="FreeSans"/>
              </a:rPr>
              <a:t>, </a:t>
            </a:r>
            <a:r>
              <a:rPr lang="en-US" sz="1800" b="0" i="0" u="none" strike="noStrike" baseline="0" dirty="0" err="1">
                <a:solidFill>
                  <a:srgbClr val="333333"/>
                </a:solidFill>
                <a:latin typeface="FreeSans"/>
              </a:rPr>
              <a:t>inclusiv</a:t>
            </a:r>
            <a:r>
              <a:rPr lang="en-US" sz="1800" b="0" i="0" u="none" strike="noStrike" baseline="0" dirty="0">
                <a:solidFill>
                  <a:srgbClr val="333333"/>
                </a:solidFill>
                <a:latin typeface="FreeSans"/>
              </a:rPr>
              <a:t> </a:t>
            </a:r>
            <a:r>
              <a:rPr lang="en-US" sz="1800" b="0" i="0" u="none" strike="noStrike" baseline="0" dirty="0" err="1">
                <a:solidFill>
                  <a:srgbClr val="333333"/>
                </a:solidFill>
                <a:latin typeface="FreeSans"/>
              </a:rPr>
              <a:t>programe</a:t>
            </a:r>
            <a:r>
              <a:rPr lang="en-US" sz="1800" b="0" i="0" u="none" strike="noStrike" baseline="0" dirty="0">
                <a:solidFill>
                  <a:srgbClr val="333333"/>
                </a:solidFill>
                <a:latin typeface="FreeSans"/>
              </a:rPr>
              <a:t> de </a:t>
            </a:r>
            <a:r>
              <a:rPr lang="en-US" sz="1800" b="0" i="0" u="none" strike="noStrike" baseline="0" dirty="0" err="1">
                <a:solidFill>
                  <a:srgbClr val="333333"/>
                </a:solidFill>
                <a:latin typeface="FreeSans"/>
              </a:rPr>
              <a:t>învățare</a:t>
            </a:r>
            <a:r>
              <a:rPr lang="en-US" sz="1800" b="0" i="0" u="none" strike="noStrike" baseline="0" dirty="0">
                <a:solidFill>
                  <a:srgbClr val="333333"/>
                </a:solidFill>
                <a:latin typeface="FreeSans"/>
              </a:rPr>
              <a:t> </a:t>
            </a:r>
            <a:r>
              <a:rPr lang="en-US" sz="1800" b="0" i="0" u="none" strike="noStrike" baseline="0" dirty="0" err="1">
                <a:solidFill>
                  <a:srgbClr val="333333"/>
                </a:solidFill>
                <a:latin typeface="FreeSans"/>
              </a:rPr>
              <a:t>pentru</a:t>
            </a:r>
            <a:r>
              <a:rPr lang="en-US" sz="1800" b="0" i="0" u="none" strike="noStrike" baseline="0" dirty="0">
                <a:solidFill>
                  <a:srgbClr val="333333"/>
                </a:solidFill>
                <a:latin typeface="FreeSans"/>
              </a:rPr>
              <a:t> </a:t>
            </a:r>
            <a:r>
              <a:rPr lang="en-US" sz="1800" b="0" i="0" u="none" strike="noStrike" baseline="0" dirty="0" err="1">
                <a:solidFill>
                  <a:srgbClr val="333333"/>
                </a:solidFill>
                <a:latin typeface="FreeSans"/>
              </a:rPr>
              <a:t>adulți</a:t>
            </a:r>
            <a:r>
              <a:rPr lang="en-US" sz="1800" b="0" i="0" u="none" strike="noStrike" baseline="0" dirty="0">
                <a:solidFill>
                  <a:srgbClr val="333333"/>
                </a:solidFill>
                <a:latin typeface="FreeSans"/>
              </a:rPr>
              <a:t>.</a:t>
            </a:r>
          </a:p>
          <a:p>
            <a:pPr algn="l"/>
            <a:r>
              <a:rPr lang="en-US" sz="1800" b="0" i="0" u="none" strike="noStrike" baseline="0" dirty="0">
                <a:solidFill>
                  <a:srgbClr val="333333"/>
                </a:solidFill>
                <a:latin typeface="FreeSans"/>
              </a:rPr>
              <a:t>Am </a:t>
            </a:r>
            <a:r>
              <a:rPr lang="en-US" sz="1800" b="0" i="0" u="none" strike="noStrike" baseline="0" dirty="0" err="1">
                <a:solidFill>
                  <a:srgbClr val="333333"/>
                </a:solidFill>
                <a:latin typeface="FreeSans"/>
              </a:rPr>
              <a:t>discutat</a:t>
            </a:r>
            <a:r>
              <a:rPr lang="en-US" sz="1800" b="0" i="0" u="none" strike="noStrike" baseline="0" dirty="0">
                <a:solidFill>
                  <a:srgbClr val="333333"/>
                </a:solidFill>
                <a:latin typeface="FreeSans"/>
              </a:rPr>
              <a:t> cu </a:t>
            </a:r>
            <a:r>
              <a:rPr lang="en-US" sz="1800" b="0" i="0" u="none" strike="noStrike" baseline="0" dirty="0" err="1">
                <a:solidFill>
                  <a:srgbClr val="333333"/>
                </a:solidFill>
                <a:latin typeface="FreeSans"/>
              </a:rPr>
              <a:t>personalul</a:t>
            </a:r>
            <a:r>
              <a:rPr lang="en-US" sz="1800" b="0" i="0" u="none" strike="noStrike" baseline="0" dirty="0">
                <a:solidFill>
                  <a:srgbClr val="333333"/>
                </a:solidFill>
                <a:latin typeface="FreeSans"/>
              </a:rPr>
              <a:t> </a:t>
            </a:r>
            <a:r>
              <a:rPr lang="en-US" sz="1800" b="0" i="0" u="none" strike="noStrike" baseline="0" dirty="0" err="1">
                <a:solidFill>
                  <a:srgbClr val="333333"/>
                </a:solidFill>
                <a:latin typeface="FreeSans"/>
              </a:rPr>
              <a:t>despre</a:t>
            </a:r>
            <a:r>
              <a:rPr lang="en-US" sz="1800" b="0" i="0" u="none" strike="noStrike" baseline="0" dirty="0">
                <a:solidFill>
                  <a:srgbClr val="333333"/>
                </a:solidFill>
                <a:latin typeface="FreeSans"/>
              </a:rPr>
              <a:t> </a:t>
            </a:r>
            <a:r>
              <a:rPr lang="en-US" sz="1800" b="0" i="0" u="none" strike="noStrike" baseline="0" dirty="0" err="1">
                <a:solidFill>
                  <a:srgbClr val="333333"/>
                </a:solidFill>
                <a:latin typeface="FreeSans"/>
              </a:rPr>
              <a:t>strategii</a:t>
            </a:r>
            <a:r>
              <a:rPr lang="en-US" sz="1800" b="0" i="0" u="none" strike="noStrike" baseline="0" dirty="0">
                <a:solidFill>
                  <a:srgbClr val="333333"/>
                </a:solidFill>
                <a:latin typeface="FreeSans"/>
              </a:rPr>
              <a:t> </a:t>
            </a:r>
            <a:r>
              <a:rPr lang="en-US" sz="1800" b="0" i="0" u="none" strike="noStrike" baseline="0" dirty="0" err="1">
                <a:solidFill>
                  <a:srgbClr val="333333"/>
                </a:solidFill>
                <a:latin typeface="FreeSans"/>
              </a:rPr>
              <a:t>pentru</a:t>
            </a:r>
            <a:r>
              <a:rPr lang="en-US" sz="1800" b="0" i="0" u="none" strike="noStrike" baseline="0" dirty="0">
                <a:solidFill>
                  <a:srgbClr val="333333"/>
                </a:solidFill>
                <a:latin typeface="FreeSans"/>
              </a:rPr>
              <a:t> </a:t>
            </a:r>
            <a:r>
              <a:rPr lang="en-US" sz="1800" b="0" i="0" u="none" strike="noStrike" baseline="0" dirty="0" err="1">
                <a:solidFill>
                  <a:srgbClr val="333333"/>
                </a:solidFill>
                <a:latin typeface="FreeSans"/>
              </a:rPr>
              <a:t>susținerea</a:t>
            </a:r>
            <a:r>
              <a:rPr lang="en-US" sz="1800" b="0" i="0" u="none" strike="noStrike" baseline="0" dirty="0">
                <a:solidFill>
                  <a:srgbClr val="333333"/>
                </a:solidFill>
                <a:latin typeface="FreeSans"/>
              </a:rPr>
              <a:t> </a:t>
            </a:r>
            <a:r>
              <a:rPr lang="en-US" sz="1800" b="0" i="0" u="none" strike="noStrike" baseline="0" dirty="0" err="1">
                <a:solidFill>
                  <a:srgbClr val="333333"/>
                </a:solidFill>
                <a:latin typeface="FreeSans"/>
              </a:rPr>
              <a:t>învățării</a:t>
            </a:r>
            <a:r>
              <a:rPr lang="en-US" sz="1800" b="0" i="0" u="none" strike="noStrike" baseline="0" dirty="0">
                <a:solidFill>
                  <a:srgbClr val="333333"/>
                </a:solidFill>
                <a:latin typeface="FreeSans"/>
              </a:rPr>
              <a:t> pe tot </a:t>
            </a:r>
            <a:r>
              <a:rPr lang="en-US" sz="1800" b="0" i="0" u="none" strike="noStrike" baseline="0" dirty="0" err="1">
                <a:solidFill>
                  <a:srgbClr val="333333"/>
                </a:solidFill>
                <a:latin typeface="FreeSans"/>
              </a:rPr>
              <a:t>parcursul</a:t>
            </a:r>
            <a:r>
              <a:rPr lang="en-US" sz="1800" b="0" i="0" u="none" strike="noStrike" baseline="0" dirty="0">
                <a:solidFill>
                  <a:srgbClr val="333333"/>
                </a:solidFill>
                <a:latin typeface="FreeSans"/>
              </a:rPr>
              <a:t> </a:t>
            </a:r>
            <a:r>
              <a:rPr lang="en-US" sz="1800" b="0" i="0" u="none" strike="noStrike" baseline="0" dirty="0" err="1">
                <a:solidFill>
                  <a:srgbClr val="333333"/>
                </a:solidFill>
                <a:latin typeface="FreeSans"/>
              </a:rPr>
              <a:t>vieții</a:t>
            </a:r>
            <a:r>
              <a:rPr lang="en-US" sz="1800" b="0" i="0" u="none" strike="noStrike" baseline="0" dirty="0">
                <a:solidFill>
                  <a:srgbClr val="333333"/>
                </a:solidFill>
                <a:latin typeface="FreeSans"/>
              </a:rPr>
              <a:t>, </a:t>
            </a:r>
            <a:r>
              <a:rPr lang="en-US" sz="1800" b="0" i="0" u="none" strike="noStrike" baseline="0" dirty="0" err="1">
                <a:solidFill>
                  <a:srgbClr val="333333"/>
                </a:solidFill>
                <a:latin typeface="FreeSans"/>
              </a:rPr>
              <a:t>concentrându</a:t>
            </a:r>
            <a:r>
              <a:rPr lang="en-US" sz="1800" b="0" i="0" u="none" strike="noStrike" baseline="0" dirty="0">
                <a:solidFill>
                  <a:srgbClr val="333333"/>
                </a:solidFill>
                <a:latin typeface="FreeSans"/>
              </a:rPr>
              <a:t>-ne pe </a:t>
            </a:r>
            <a:r>
              <a:rPr lang="en-US" sz="1800" b="0" i="0" u="none" strike="noStrike" baseline="0" dirty="0" err="1">
                <a:solidFill>
                  <a:srgbClr val="333333"/>
                </a:solidFill>
                <a:latin typeface="FreeSans"/>
              </a:rPr>
              <a:t>practici</a:t>
            </a:r>
            <a:r>
              <a:rPr lang="en-US" sz="1800" b="0" i="0" u="none" strike="noStrike" baseline="0" dirty="0">
                <a:solidFill>
                  <a:srgbClr val="333333"/>
                </a:solidFill>
                <a:latin typeface="FreeSans"/>
              </a:rPr>
              <a:t> </a:t>
            </a:r>
            <a:r>
              <a:rPr lang="en-US" sz="1800" b="0" i="0" u="none" strike="noStrike" baseline="0" dirty="0" err="1">
                <a:solidFill>
                  <a:srgbClr val="333333"/>
                </a:solidFill>
                <a:latin typeface="FreeSans"/>
              </a:rPr>
              <a:t>incluzive</a:t>
            </a:r>
            <a:r>
              <a:rPr lang="en-US" sz="1800" b="0" i="0" u="none" strike="noStrike" baseline="0" dirty="0">
                <a:solidFill>
                  <a:srgbClr val="333333"/>
                </a:solidFill>
                <a:latin typeface="FreeSans"/>
              </a:rPr>
              <a:t> </a:t>
            </a:r>
            <a:r>
              <a:rPr lang="en-US" sz="1800" b="0" i="0" u="none" strike="noStrike" baseline="0" dirty="0" err="1">
                <a:solidFill>
                  <a:srgbClr val="333333"/>
                </a:solidFill>
                <a:latin typeface="FreeSans"/>
              </a:rPr>
              <a:t>și</a:t>
            </a:r>
            <a:r>
              <a:rPr lang="en-US" sz="1800" b="0" i="0" u="none" strike="noStrike" baseline="0" dirty="0">
                <a:solidFill>
                  <a:srgbClr val="333333"/>
                </a:solidFill>
                <a:latin typeface="FreeSans"/>
              </a:rPr>
              <a:t> </a:t>
            </a:r>
            <a:r>
              <a:rPr lang="en-US" sz="1800" b="0" i="0" u="none" strike="noStrike" baseline="0" dirty="0" err="1">
                <a:solidFill>
                  <a:srgbClr val="333333"/>
                </a:solidFill>
                <a:latin typeface="FreeSans"/>
              </a:rPr>
              <a:t>programe</a:t>
            </a:r>
            <a:r>
              <a:rPr lang="en-US" sz="1800" b="0" i="0" u="none" strike="noStrike" baseline="0" dirty="0">
                <a:solidFill>
                  <a:srgbClr val="333333"/>
                </a:solidFill>
                <a:latin typeface="FreeSans"/>
              </a:rPr>
              <a:t> care </a:t>
            </a:r>
            <a:r>
              <a:rPr lang="en-US" sz="1800" b="0" i="0" u="none" strike="noStrike" baseline="0" dirty="0" err="1">
                <a:solidFill>
                  <a:srgbClr val="333333"/>
                </a:solidFill>
                <a:latin typeface="FreeSans"/>
              </a:rPr>
              <a:t>corespund</a:t>
            </a:r>
            <a:r>
              <a:rPr lang="en-US" sz="1800" b="0" i="0" u="none" strike="noStrike" baseline="0" dirty="0">
                <a:solidFill>
                  <a:srgbClr val="333333"/>
                </a:solidFill>
                <a:latin typeface="FreeSans"/>
              </a:rPr>
              <a:t> </a:t>
            </a:r>
            <a:r>
              <a:rPr lang="en-US" sz="1800" b="0" i="0" u="none" strike="noStrike" baseline="0" dirty="0" err="1">
                <a:solidFill>
                  <a:srgbClr val="333333"/>
                </a:solidFill>
                <a:latin typeface="FreeSans"/>
              </a:rPr>
              <a:t>nevoilor</a:t>
            </a:r>
            <a:r>
              <a:rPr lang="en-US" sz="1800" b="0" i="0" u="none" strike="noStrike" baseline="0" dirty="0">
                <a:solidFill>
                  <a:srgbClr val="333333"/>
                </a:solidFill>
                <a:latin typeface="FreeSans"/>
              </a:rPr>
              <a:t> </a:t>
            </a:r>
            <a:r>
              <a:rPr lang="en-US" sz="1800" b="0" i="0" u="none" strike="noStrike" baseline="0" dirty="0" err="1">
                <a:solidFill>
                  <a:srgbClr val="333333"/>
                </a:solidFill>
                <a:latin typeface="FreeSans"/>
              </a:rPr>
              <a:t>comunității</a:t>
            </a:r>
            <a:r>
              <a:rPr lang="en-US" sz="1800" b="0" i="0" u="none" strike="noStrike" baseline="0" dirty="0">
                <a:solidFill>
                  <a:srgbClr val="333333"/>
                </a:solidFill>
                <a:latin typeface="FreeSans"/>
              </a:rPr>
              <a:t> </a:t>
            </a:r>
            <a:r>
              <a:rPr lang="en-US" sz="1800" b="0" i="0" u="none" strike="noStrike" baseline="0" dirty="0" err="1">
                <a:solidFill>
                  <a:srgbClr val="333333"/>
                </a:solidFill>
                <a:latin typeface="FreeSans"/>
              </a:rPr>
              <a:t>și</a:t>
            </a:r>
            <a:r>
              <a:rPr lang="en-US" sz="1800" b="0" i="0" u="none" strike="noStrike" baseline="0" dirty="0">
                <a:solidFill>
                  <a:srgbClr val="333333"/>
                </a:solidFill>
                <a:latin typeface="FreeSans"/>
              </a:rPr>
              <a:t> </a:t>
            </a:r>
            <a:r>
              <a:rPr lang="en-US" sz="1800" b="0" i="0" u="none" strike="noStrike" baseline="0" dirty="0" err="1">
                <a:solidFill>
                  <a:srgbClr val="333333"/>
                </a:solidFill>
                <a:latin typeface="FreeSans"/>
              </a:rPr>
              <a:t>pieței</a:t>
            </a:r>
            <a:r>
              <a:rPr lang="en-US" sz="1800" b="0" i="0" u="none" strike="noStrike" baseline="0" dirty="0">
                <a:solidFill>
                  <a:srgbClr val="333333"/>
                </a:solidFill>
                <a:latin typeface="FreeSans"/>
              </a:rPr>
              <a:t> </a:t>
            </a:r>
            <a:r>
              <a:rPr lang="en-US" sz="1800" b="0" i="0" u="none" strike="noStrike" baseline="0" dirty="0" err="1">
                <a:solidFill>
                  <a:srgbClr val="333333"/>
                </a:solidFill>
                <a:latin typeface="FreeSans"/>
              </a:rPr>
              <a:t>muncii</a:t>
            </a:r>
            <a:r>
              <a:rPr lang="en-US" sz="1800" b="0" i="0" u="none" strike="noStrike" baseline="0" dirty="0">
                <a:solidFill>
                  <a:srgbClr val="333333"/>
                </a:solidFill>
                <a:latin typeface="FreeSans"/>
              </a:rPr>
              <a:t>. </a:t>
            </a:r>
          </a:p>
          <a:p>
            <a:pPr algn="l"/>
            <a:r>
              <a:rPr lang="en-US" sz="1800" b="0" i="0" u="none" strike="noStrike" baseline="0" dirty="0">
                <a:solidFill>
                  <a:srgbClr val="333333"/>
                </a:solidFill>
                <a:latin typeface="FreeSans"/>
              </a:rPr>
              <a:t>Ne-am </a:t>
            </a:r>
            <a:r>
              <a:rPr lang="en-US" sz="1800" b="0" i="0" u="none" strike="noStrike" baseline="0" dirty="0" err="1">
                <a:solidFill>
                  <a:srgbClr val="333333"/>
                </a:solidFill>
                <a:latin typeface="FreeSans"/>
              </a:rPr>
              <a:t>întâlnit</a:t>
            </a:r>
            <a:r>
              <a:rPr lang="en-US" sz="1800" b="0" i="0" u="none" strike="noStrike" baseline="0" dirty="0">
                <a:solidFill>
                  <a:srgbClr val="333333"/>
                </a:solidFill>
                <a:latin typeface="FreeSans"/>
              </a:rPr>
              <a:t> cu </a:t>
            </a:r>
            <a:r>
              <a:rPr lang="en-US" sz="1800" b="0" i="0" u="none" strike="noStrike" baseline="0" dirty="0" err="1">
                <a:solidFill>
                  <a:srgbClr val="333333"/>
                </a:solidFill>
                <a:latin typeface="FreeSans"/>
              </a:rPr>
              <a:t>reprezentanții</a:t>
            </a:r>
            <a:r>
              <a:rPr lang="en-US" sz="1800" b="0" i="0" u="none" strike="noStrike" baseline="0" dirty="0">
                <a:solidFill>
                  <a:srgbClr val="333333"/>
                </a:solidFill>
                <a:latin typeface="FreeSans"/>
              </a:rPr>
              <a:t> </a:t>
            </a:r>
            <a:r>
              <a:rPr lang="en-US" sz="1800" b="0" i="0" u="none" strike="noStrike" baseline="0" dirty="0" err="1">
                <a:solidFill>
                  <a:srgbClr val="333333"/>
                </a:solidFill>
                <a:latin typeface="FreeSans"/>
              </a:rPr>
              <a:t>Asociației</a:t>
            </a:r>
            <a:r>
              <a:rPr lang="en-US" sz="1800" b="0" i="0" u="none" strike="noStrike" baseline="0" dirty="0">
                <a:solidFill>
                  <a:srgbClr val="333333"/>
                </a:solidFill>
                <a:latin typeface="FreeSans"/>
              </a:rPr>
              <a:t> </a:t>
            </a:r>
            <a:r>
              <a:rPr lang="en-US" sz="1800" b="0" i="0" u="none" strike="noStrike" baseline="0" dirty="0" err="1">
                <a:solidFill>
                  <a:srgbClr val="333333"/>
                </a:solidFill>
                <a:latin typeface="FreeSans"/>
              </a:rPr>
              <a:t>Părinților</a:t>
            </a:r>
            <a:r>
              <a:rPr lang="en-US" sz="1800" b="0" i="0" u="none" strike="noStrike" baseline="0" dirty="0">
                <a:solidFill>
                  <a:srgbClr val="333333"/>
                </a:solidFill>
                <a:latin typeface="FreeSans"/>
              </a:rPr>
              <a:t> de la </a:t>
            </a:r>
            <a:r>
              <a:rPr lang="en-US" sz="1800" b="0" i="0" u="none" strike="noStrike" baseline="0" dirty="0" err="1">
                <a:solidFill>
                  <a:srgbClr val="333333"/>
                </a:solidFill>
                <a:latin typeface="FreeSans"/>
              </a:rPr>
              <a:t>școala</a:t>
            </a:r>
            <a:r>
              <a:rPr lang="en-US" sz="1800" b="0" i="0" u="none" strike="noStrike" baseline="0" dirty="0">
                <a:solidFill>
                  <a:srgbClr val="333333"/>
                </a:solidFill>
                <a:latin typeface="FreeSans"/>
              </a:rPr>
              <a:t> </a:t>
            </a:r>
            <a:r>
              <a:rPr lang="en-US" sz="1800" b="0" i="0" u="none" strike="noStrike" baseline="0" dirty="0" err="1">
                <a:solidFill>
                  <a:srgbClr val="333333"/>
                </a:solidFill>
                <a:latin typeface="FreeSans"/>
              </a:rPr>
              <a:t>locală</a:t>
            </a:r>
            <a:r>
              <a:rPr lang="en-US" sz="1800" b="0" i="0" u="none" strike="noStrike" baseline="0" dirty="0">
                <a:solidFill>
                  <a:srgbClr val="333333"/>
                </a:solidFill>
                <a:latin typeface="FreeSans"/>
              </a:rPr>
              <a:t> din </a:t>
            </a:r>
            <a:r>
              <a:rPr lang="en-US" sz="1800" b="0" i="0" u="none" strike="noStrike" baseline="0" dirty="0" err="1">
                <a:solidFill>
                  <a:srgbClr val="333333"/>
                </a:solidFill>
                <a:latin typeface="FreeSans"/>
              </a:rPr>
              <a:t>Vizela</a:t>
            </a:r>
            <a:r>
              <a:rPr lang="en-US" sz="1800" b="0" i="0" u="none" strike="noStrike" baseline="0" dirty="0">
                <a:solidFill>
                  <a:srgbClr val="333333"/>
                </a:solidFill>
                <a:latin typeface="FreeSans"/>
              </a:rPr>
              <a:t> </a:t>
            </a:r>
            <a:r>
              <a:rPr lang="en-US" sz="1800" b="0" i="0" u="none" strike="noStrike" baseline="0" dirty="0" err="1">
                <a:solidFill>
                  <a:srgbClr val="333333"/>
                </a:solidFill>
                <a:latin typeface="FreeSans"/>
              </a:rPr>
              <a:t>și</a:t>
            </a:r>
            <a:r>
              <a:rPr lang="en-US" sz="1800" b="0" i="0" u="none" strike="noStrike" baseline="0" dirty="0">
                <a:solidFill>
                  <a:srgbClr val="333333"/>
                </a:solidFill>
                <a:latin typeface="FreeSans"/>
              </a:rPr>
              <a:t> am </a:t>
            </a:r>
            <a:r>
              <a:rPr lang="en-US" sz="1800" b="0" i="0" u="none" strike="noStrike" baseline="0" dirty="0" err="1">
                <a:solidFill>
                  <a:srgbClr val="333333"/>
                </a:solidFill>
                <a:latin typeface="FreeSans"/>
              </a:rPr>
              <a:t>discutat</a:t>
            </a:r>
            <a:r>
              <a:rPr lang="en-US" sz="1800" b="0" i="0" u="none" strike="noStrike" baseline="0" dirty="0">
                <a:solidFill>
                  <a:srgbClr val="333333"/>
                </a:solidFill>
                <a:latin typeface="FreeSans"/>
              </a:rPr>
              <a:t> </a:t>
            </a:r>
            <a:r>
              <a:rPr lang="en-US" sz="1800" b="0" i="0" u="none" strike="noStrike" baseline="0" dirty="0" err="1">
                <a:solidFill>
                  <a:srgbClr val="333333"/>
                </a:solidFill>
                <a:latin typeface="FreeSans"/>
              </a:rPr>
              <a:t>despre</a:t>
            </a:r>
            <a:r>
              <a:rPr lang="en-US" sz="1800" b="0" i="0" u="none" strike="noStrike" baseline="0" dirty="0">
                <a:solidFill>
                  <a:srgbClr val="333333"/>
                </a:solidFill>
                <a:latin typeface="FreeSans"/>
              </a:rPr>
              <a:t> </a:t>
            </a:r>
            <a:r>
              <a:rPr lang="en-US" sz="1800" b="0" i="0" u="none" strike="noStrike" baseline="0" dirty="0" err="1">
                <a:solidFill>
                  <a:srgbClr val="333333"/>
                </a:solidFill>
                <a:latin typeface="FreeSans"/>
              </a:rPr>
              <a:t>importanța</a:t>
            </a:r>
            <a:r>
              <a:rPr lang="en-US" sz="1800" b="0" i="0" u="none" strike="noStrike" baseline="0" dirty="0">
                <a:solidFill>
                  <a:srgbClr val="333333"/>
                </a:solidFill>
                <a:latin typeface="FreeSans"/>
              </a:rPr>
              <a:t> </a:t>
            </a:r>
            <a:r>
              <a:rPr lang="en-US" sz="1800" b="0" i="0" u="none" strike="noStrike" baseline="0" dirty="0" err="1">
                <a:solidFill>
                  <a:srgbClr val="333333"/>
                </a:solidFill>
                <a:latin typeface="FreeSans"/>
              </a:rPr>
              <a:t>implicării</a:t>
            </a:r>
            <a:r>
              <a:rPr lang="en-US" sz="1800" b="0" i="0" u="none" strike="noStrike" baseline="0" dirty="0">
                <a:solidFill>
                  <a:srgbClr val="333333"/>
                </a:solidFill>
                <a:latin typeface="FreeSans"/>
              </a:rPr>
              <a:t> </a:t>
            </a:r>
            <a:r>
              <a:rPr lang="en-US" sz="1800" b="0" i="0" u="none" strike="noStrike" baseline="0" dirty="0" err="1">
                <a:solidFill>
                  <a:srgbClr val="333333"/>
                </a:solidFill>
                <a:latin typeface="FreeSans"/>
              </a:rPr>
              <a:t>părinților</a:t>
            </a:r>
            <a:r>
              <a:rPr lang="en-US" sz="1800" b="0" i="0" u="none" strike="noStrike" baseline="0" dirty="0">
                <a:solidFill>
                  <a:srgbClr val="333333"/>
                </a:solidFill>
                <a:latin typeface="FreeSans"/>
              </a:rPr>
              <a:t> </a:t>
            </a:r>
            <a:r>
              <a:rPr lang="en-US" sz="1800" b="0" i="0" u="none" strike="noStrike" baseline="0" dirty="0" err="1">
                <a:solidFill>
                  <a:srgbClr val="333333"/>
                </a:solidFill>
                <a:latin typeface="FreeSans"/>
              </a:rPr>
              <a:t>în</a:t>
            </a:r>
            <a:r>
              <a:rPr lang="en-US" sz="1800" b="0" i="0" u="none" strike="noStrike" baseline="0" dirty="0">
                <a:solidFill>
                  <a:srgbClr val="333333"/>
                </a:solidFill>
                <a:latin typeface="FreeSans"/>
              </a:rPr>
              <a:t> </a:t>
            </a:r>
            <a:r>
              <a:rPr lang="en-US" sz="1800" b="0" i="0" u="none" strike="noStrike" baseline="0" dirty="0" err="1">
                <a:solidFill>
                  <a:srgbClr val="333333"/>
                </a:solidFill>
                <a:latin typeface="FreeSans"/>
              </a:rPr>
              <a:t>viața</a:t>
            </a:r>
            <a:r>
              <a:rPr lang="en-US" sz="1800" b="0" i="0" u="none" strike="noStrike" baseline="0" dirty="0">
                <a:solidFill>
                  <a:srgbClr val="333333"/>
                </a:solidFill>
                <a:latin typeface="FreeSans"/>
              </a:rPr>
              <a:t> </a:t>
            </a:r>
            <a:r>
              <a:rPr lang="en-US" sz="1800" b="0" i="0" u="none" strike="noStrike" baseline="0" dirty="0" err="1">
                <a:solidFill>
                  <a:srgbClr val="333333"/>
                </a:solidFill>
                <a:latin typeface="FreeSans"/>
              </a:rPr>
              <a:t>școlii</a:t>
            </a:r>
            <a:r>
              <a:rPr lang="en-US" sz="1800" b="0" i="0" u="none" strike="noStrike" baseline="0" dirty="0">
                <a:solidFill>
                  <a:srgbClr val="333333"/>
                </a:solidFill>
                <a:latin typeface="FreeSans"/>
              </a:rPr>
              <a:t>, precum </a:t>
            </a:r>
            <a:r>
              <a:rPr lang="en-US" sz="1800" b="0" i="0" u="none" strike="noStrike" baseline="0" dirty="0" err="1">
                <a:solidFill>
                  <a:srgbClr val="333333"/>
                </a:solidFill>
                <a:latin typeface="FreeSans"/>
              </a:rPr>
              <a:t>și</a:t>
            </a:r>
            <a:r>
              <a:rPr lang="en-US" sz="1800" b="0" i="0" u="none" strike="noStrike" baseline="0" dirty="0">
                <a:solidFill>
                  <a:srgbClr val="333333"/>
                </a:solidFill>
                <a:latin typeface="FreeSans"/>
              </a:rPr>
              <a:t> </a:t>
            </a:r>
            <a:r>
              <a:rPr lang="en-US" sz="1800" b="0" i="0" u="none" strike="noStrike" baseline="0" dirty="0" err="1">
                <a:solidFill>
                  <a:srgbClr val="333333"/>
                </a:solidFill>
                <a:latin typeface="FreeSans"/>
              </a:rPr>
              <a:t>despre</a:t>
            </a:r>
            <a:r>
              <a:rPr lang="en-US" sz="1800" b="0" i="0" u="none" strike="noStrike" baseline="0" dirty="0">
                <a:solidFill>
                  <a:srgbClr val="333333"/>
                </a:solidFill>
                <a:latin typeface="FreeSans"/>
              </a:rPr>
              <a:t> </a:t>
            </a:r>
            <a:r>
              <a:rPr lang="en-US" sz="1800" b="0" i="0" u="none" strike="noStrike" baseline="0" dirty="0" err="1">
                <a:solidFill>
                  <a:srgbClr val="333333"/>
                </a:solidFill>
                <a:latin typeface="FreeSans"/>
              </a:rPr>
              <a:t>activitățile</a:t>
            </a:r>
            <a:r>
              <a:rPr lang="en-US" sz="1800" b="0" i="0" u="none" strike="noStrike" baseline="0" dirty="0">
                <a:solidFill>
                  <a:srgbClr val="333333"/>
                </a:solidFill>
                <a:latin typeface="FreeSans"/>
              </a:rPr>
              <a:t> care </a:t>
            </a:r>
            <a:r>
              <a:rPr lang="en-US" sz="1800" b="0" i="0" u="none" strike="noStrike" baseline="0" dirty="0" err="1">
                <a:solidFill>
                  <a:srgbClr val="333333"/>
                </a:solidFill>
                <a:latin typeface="FreeSans"/>
              </a:rPr>
              <a:t>vizează</a:t>
            </a:r>
            <a:r>
              <a:rPr lang="en-US" sz="1800" b="0" i="0" u="none" strike="noStrike" baseline="0" dirty="0">
                <a:solidFill>
                  <a:srgbClr val="333333"/>
                </a:solidFill>
                <a:latin typeface="FreeSans"/>
              </a:rPr>
              <a:t> </a:t>
            </a:r>
            <a:r>
              <a:rPr lang="en-US" sz="1800" b="0" i="0" u="none" strike="noStrike" baseline="0" dirty="0" err="1">
                <a:solidFill>
                  <a:srgbClr val="333333"/>
                </a:solidFill>
                <a:latin typeface="FreeSans"/>
              </a:rPr>
              <a:t>consolidarea</a:t>
            </a:r>
            <a:r>
              <a:rPr lang="en-US" sz="1800" b="0" i="0" u="none" strike="noStrike" baseline="0" dirty="0">
                <a:solidFill>
                  <a:srgbClr val="333333"/>
                </a:solidFill>
                <a:latin typeface="FreeSans"/>
              </a:rPr>
              <a:t> </a:t>
            </a:r>
            <a:r>
              <a:rPr lang="en-US" sz="1800" b="0" i="0" u="none" strike="noStrike" baseline="0" dirty="0" err="1">
                <a:solidFill>
                  <a:srgbClr val="333333"/>
                </a:solidFill>
                <a:latin typeface="FreeSans"/>
              </a:rPr>
              <a:t>colaborării</a:t>
            </a:r>
            <a:r>
              <a:rPr lang="en-US" sz="1800" b="0" i="0" u="none" strike="noStrike" baseline="0" dirty="0">
                <a:solidFill>
                  <a:srgbClr val="333333"/>
                </a:solidFill>
                <a:latin typeface="FreeSans"/>
              </a:rPr>
              <a:t> </a:t>
            </a:r>
            <a:r>
              <a:rPr lang="en-US" sz="1800" b="0" i="0" u="none" strike="noStrike" baseline="0" dirty="0" err="1">
                <a:solidFill>
                  <a:srgbClr val="333333"/>
                </a:solidFill>
                <a:latin typeface="FreeSans"/>
              </a:rPr>
              <a:t>familie-școală</a:t>
            </a:r>
            <a:r>
              <a:rPr lang="en-US" sz="1800" b="0" i="0" u="none" strike="noStrike" baseline="0" dirty="0">
                <a:solidFill>
                  <a:srgbClr val="333333"/>
                </a:solidFill>
                <a:latin typeface="FreeSans"/>
              </a:rPr>
              <a:t> </a:t>
            </a:r>
            <a:r>
              <a:rPr lang="en-US" sz="1800" b="0" i="0" u="none" strike="noStrike" baseline="0" dirty="0" err="1">
                <a:solidFill>
                  <a:srgbClr val="333333"/>
                </a:solidFill>
                <a:latin typeface="FreeSans"/>
              </a:rPr>
              <a:t>și</a:t>
            </a:r>
            <a:r>
              <a:rPr lang="en-US" sz="1800" b="0" i="0" u="none" strike="noStrike" baseline="0" dirty="0">
                <a:solidFill>
                  <a:srgbClr val="333333"/>
                </a:solidFill>
                <a:latin typeface="FreeSans"/>
              </a:rPr>
              <a:t> a </a:t>
            </a:r>
            <a:r>
              <a:rPr lang="en-US" sz="1800" b="0" i="0" u="none" strike="noStrike" baseline="0" dirty="0" err="1">
                <a:solidFill>
                  <a:srgbClr val="333333"/>
                </a:solidFill>
                <a:latin typeface="FreeSans"/>
              </a:rPr>
              <a:t>participării</a:t>
            </a:r>
            <a:r>
              <a:rPr lang="en-US" sz="1800" b="0" i="0" u="none" strike="noStrike" baseline="0" dirty="0">
                <a:solidFill>
                  <a:srgbClr val="333333"/>
                </a:solidFill>
                <a:latin typeface="FreeSans"/>
              </a:rPr>
              <a:t> </a:t>
            </a:r>
            <a:r>
              <a:rPr lang="en-US" sz="1800" b="0" i="0" u="none" strike="noStrike" baseline="0" dirty="0" err="1">
                <a:solidFill>
                  <a:srgbClr val="333333"/>
                </a:solidFill>
                <a:latin typeface="FreeSans"/>
              </a:rPr>
              <a:t>comunității</a:t>
            </a:r>
            <a:r>
              <a:rPr lang="en-US" sz="1800" b="0" i="0" u="none" strike="noStrike" baseline="0" dirty="0">
                <a:solidFill>
                  <a:srgbClr val="333333"/>
                </a:solidFill>
                <a:latin typeface="FreeSans"/>
              </a:rPr>
              <a:t>.</a:t>
            </a:r>
          </a:p>
          <a:p>
            <a:pPr algn="l"/>
            <a:endParaRPr lang="en-US" sz="1800" b="0" i="0" u="none" strike="noStrike" baseline="0" dirty="0">
              <a:solidFill>
                <a:srgbClr val="333333"/>
              </a:solidFill>
              <a:latin typeface="FreeSans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7020B61-37B4-4D7D-9943-DF463D0E27A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5999" y="174566"/>
            <a:ext cx="3031721" cy="167918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8F49A5B7-A855-42D2-BC4C-8484FCF2F4E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30655" y="174566"/>
            <a:ext cx="2421430" cy="162099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3BD7DAF-8E00-4EB0-BC7B-41FBAB55330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27720" y="174566"/>
            <a:ext cx="2618164" cy="16791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224637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3C3A1E-8923-43F8-BFE8-87312F595C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ActivitATI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BD722E-222B-46A7-B4BF-8263EB6723F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/>
            <a:r>
              <a:rPr lang="en-US" sz="1800" b="0" i="0" u="none" strike="noStrike" baseline="0" dirty="0">
                <a:solidFill>
                  <a:srgbClr val="333333"/>
                </a:solidFill>
                <a:latin typeface="FreeSans"/>
              </a:rPr>
              <a:t>Am </a:t>
            </a:r>
            <a:r>
              <a:rPr lang="en-US" sz="1800" b="0" i="0" u="none" strike="noStrike" baseline="0" dirty="0" err="1">
                <a:solidFill>
                  <a:srgbClr val="333333"/>
                </a:solidFill>
                <a:latin typeface="FreeSans"/>
              </a:rPr>
              <a:t>participat</a:t>
            </a:r>
            <a:r>
              <a:rPr lang="en-US" sz="1800" b="0" i="0" u="none" strike="noStrike" baseline="0" dirty="0">
                <a:solidFill>
                  <a:srgbClr val="333333"/>
                </a:solidFill>
                <a:latin typeface="FreeSans"/>
              </a:rPr>
              <a:t> la </a:t>
            </a:r>
            <a:r>
              <a:rPr lang="en-US" sz="1800" b="0" i="0" u="none" strike="noStrike" baseline="0" dirty="0" err="1">
                <a:solidFill>
                  <a:srgbClr val="333333"/>
                </a:solidFill>
                <a:latin typeface="FreeSans"/>
              </a:rPr>
              <a:t>întâlniri</a:t>
            </a:r>
            <a:r>
              <a:rPr lang="en-US" sz="1800" b="0" i="0" u="none" strike="noStrike" baseline="0" dirty="0">
                <a:solidFill>
                  <a:srgbClr val="333333"/>
                </a:solidFill>
                <a:latin typeface="FreeSans"/>
              </a:rPr>
              <a:t> interne </a:t>
            </a:r>
            <a:r>
              <a:rPr lang="en-US" sz="1800" b="0" i="0" u="none" strike="noStrike" baseline="0" dirty="0" err="1">
                <a:solidFill>
                  <a:srgbClr val="333333"/>
                </a:solidFill>
                <a:latin typeface="FreeSans"/>
              </a:rPr>
              <a:t>despre</a:t>
            </a:r>
            <a:r>
              <a:rPr lang="en-US" sz="1800" b="0" i="0" u="none" strike="noStrike" baseline="0" dirty="0">
                <a:solidFill>
                  <a:srgbClr val="333333"/>
                </a:solidFill>
                <a:latin typeface="FreeSans"/>
              </a:rPr>
              <a:t> </a:t>
            </a:r>
            <a:r>
              <a:rPr lang="en-US" sz="1800" b="0" i="0" u="none" strike="noStrike" baseline="0" dirty="0" err="1">
                <a:solidFill>
                  <a:srgbClr val="333333"/>
                </a:solidFill>
                <a:latin typeface="FreeSans"/>
              </a:rPr>
              <a:t>planificare</a:t>
            </a:r>
            <a:r>
              <a:rPr lang="en-US" sz="1800" b="0" i="0" u="none" strike="noStrike" baseline="0" dirty="0">
                <a:solidFill>
                  <a:srgbClr val="333333"/>
                </a:solidFill>
                <a:latin typeface="FreeSans"/>
              </a:rPr>
              <a:t> </a:t>
            </a:r>
            <a:r>
              <a:rPr lang="en-US" sz="1800" b="0" i="0" u="none" strike="noStrike" baseline="0" dirty="0" err="1">
                <a:solidFill>
                  <a:srgbClr val="333333"/>
                </a:solidFill>
                <a:latin typeface="FreeSans"/>
              </a:rPr>
              <a:t>strategică</a:t>
            </a:r>
            <a:r>
              <a:rPr lang="en-US" sz="1800" b="0" i="0" u="none" strike="noStrike" baseline="0" dirty="0">
                <a:solidFill>
                  <a:srgbClr val="333333"/>
                </a:solidFill>
                <a:latin typeface="FreeSans"/>
              </a:rPr>
              <a:t> </a:t>
            </a:r>
            <a:r>
              <a:rPr lang="en-US" sz="1800" b="0" i="0" u="none" strike="noStrike" baseline="0" dirty="0" err="1">
                <a:solidFill>
                  <a:srgbClr val="333333"/>
                </a:solidFill>
                <a:latin typeface="FreeSans"/>
              </a:rPr>
              <a:t>și</a:t>
            </a:r>
            <a:r>
              <a:rPr lang="en-US" sz="1800" b="0" i="0" u="none" strike="noStrike" baseline="0" dirty="0">
                <a:solidFill>
                  <a:srgbClr val="333333"/>
                </a:solidFill>
                <a:latin typeface="FreeSans"/>
              </a:rPr>
              <a:t> management de </a:t>
            </a:r>
            <a:r>
              <a:rPr lang="en-US" sz="1800" b="0" i="0" u="none" strike="noStrike" baseline="0" dirty="0" err="1">
                <a:solidFill>
                  <a:srgbClr val="333333"/>
                </a:solidFill>
                <a:latin typeface="FreeSans"/>
              </a:rPr>
              <a:t>proiect</a:t>
            </a:r>
            <a:r>
              <a:rPr lang="en-US" sz="1800" b="0" i="0" u="none" strike="noStrike" baseline="0" dirty="0">
                <a:solidFill>
                  <a:srgbClr val="333333"/>
                </a:solidFill>
                <a:latin typeface="FreeSans"/>
              </a:rPr>
              <a:t>, </a:t>
            </a:r>
            <a:r>
              <a:rPr lang="en-US" sz="1800" b="0" i="0" u="none" strike="noStrike" baseline="0" dirty="0" err="1">
                <a:solidFill>
                  <a:srgbClr val="333333"/>
                </a:solidFill>
                <a:latin typeface="FreeSans"/>
              </a:rPr>
              <a:t>dobândind</a:t>
            </a:r>
            <a:r>
              <a:rPr lang="en-US" sz="1800" b="0" i="0" u="none" strike="noStrike" baseline="0" dirty="0">
                <a:solidFill>
                  <a:srgbClr val="333333"/>
                </a:solidFill>
                <a:latin typeface="FreeSans"/>
              </a:rPr>
              <a:t> </a:t>
            </a:r>
            <a:r>
              <a:rPr lang="en-US" sz="1800" b="0" i="0" u="none" strike="noStrike" baseline="0" dirty="0" err="1">
                <a:solidFill>
                  <a:srgbClr val="333333"/>
                </a:solidFill>
                <a:latin typeface="FreeSans"/>
              </a:rPr>
              <a:t>informații</a:t>
            </a:r>
            <a:r>
              <a:rPr lang="en-US" sz="1800" b="0" i="0" u="none" strike="noStrike" baseline="0" dirty="0">
                <a:solidFill>
                  <a:srgbClr val="333333"/>
                </a:solidFill>
                <a:latin typeface="FreeSans"/>
              </a:rPr>
              <a:t> </a:t>
            </a:r>
            <a:r>
              <a:rPr lang="en-US" sz="1800" b="0" i="0" u="none" strike="noStrike" baseline="0" dirty="0" err="1">
                <a:solidFill>
                  <a:srgbClr val="333333"/>
                </a:solidFill>
                <a:latin typeface="FreeSans"/>
              </a:rPr>
              <a:t>despre</a:t>
            </a:r>
            <a:r>
              <a:rPr lang="en-US" sz="1800" b="0" i="0" u="none" strike="noStrike" baseline="0" dirty="0">
                <a:solidFill>
                  <a:srgbClr val="333333"/>
                </a:solidFill>
                <a:latin typeface="FreeSans"/>
              </a:rPr>
              <a:t> </a:t>
            </a:r>
            <a:r>
              <a:rPr lang="en-US" sz="1800" b="0" i="0" u="none" strike="noStrike" baseline="0" dirty="0" err="1">
                <a:solidFill>
                  <a:srgbClr val="333333"/>
                </a:solidFill>
                <a:latin typeface="FreeSans"/>
              </a:rPr>
              <a:t>procesele</a:t>
            </a:r>
            <a:r>
              <a:rPr lang="en-US" sz="1800" b="0" i="0" u="none" strike="noStrike" baseline="0" dirty="0">
                <a:solidFill>
                  <a:srgbClr val="333333"/>
                </a:solidFill>
                <a:latin typeface="FreeSans"/>
              </a:rPr>
              <a:t> de </a:t>
            </a:r>
            <a:r>
              <a:rPr lang="en-US" sz="1800" b="0" i="0" u="none" strike="noStrike" baseline="0" dirty="0" err="1">
                <a:solidFill>
                  <a:srgbClr val="333333"/>
                </a:solidFill>
                <a:latin typeface="FreeSans"/>
              </a:rPr>
              <a:t>dezvoltare</a:t>
            </a:r>
            <a:r>
              <a:rPr lang="en-US" sz="1800" b="0" i="0" u="none" strike="noStrike" baseline="0" dirty="0">
                <a:solidFill>
                  <a:srgbClr val="333333"/>
                </a:solidFill>
                <a:latin typeface="FreeSans"/>
              </a:rPr>
              <a:t> </a:t>
            </a:r>
            <a:r>
              <a:rPr lang="en-US" sz="1800" b="0" i="0" u="none" strike="noStrike" baseline="0" dirty="0" err="1">
                <a:solidFill>
                  <a:srgbClr val="333333"/>
                </a:solidFill>
                <a:latin typeface="FreeSans"/>
              </a:rPr>
              <a:t>organizațională</a:t>
            </a:r>
            <a:r>
              <a:rPr lang="en-US" sz="1800" b="0" i="0" u="none" strike="noStrike" baseline="0" dirty="0">
                <a:solidFill>
                  <a:srgbClr val="333333"/>
                </a:solidFill>
                <a:latin typeface="FreeSans"/>
              </a:rPr>
              <a:t> </a:t>
            </a:r>
            <a:r>
              <a:rPr lang="en-US" sz="1800" b="0" i="0" u="none" strike="noStrike" baseline="0" dirty="0" err="1">
                <a:solidFill>
                  <a:srgbClr val="333333"/>
                </a:solidFill>
                <a:latin typeface="FreeSans"/>
              </a:rPr>
              <a:t>și</a:t>
            </a:r>
            <a:r>
              <a:rPr lang="en-US" sz="1800" b="0" i="0" u="none" strike="noStrike" baseline="0" dirty="0">
                <a:solidFill>
                  <a:srgbClr val="333333"/>
                </a:solidFill>
                <a:latin typeface="FreeSans"/>
              </a:rPr>
              <a:t> </a:t>
            </a:r>
            <a:r>
              <a:rPr lang="en-US" sz="1800" b="0" i="0" u="none" strike="noStrike" baseline="0" dirty="0" err="1">
                <a:solidFill>
                  <a:srgbClr val="333333"/>
                </a:solidFill>
                <a:latin typeface="FreeSans"/>
              </a:rPr>
              <a:t>ateliere</a:t>
            </a:r>
            <a:r>
              <a:rPr lang="en-US" sz="1800" b="0" i="0" u="none" strike="noStrike" baseline="0" dirty="0">
                <a:solidFill>
                  <a:srgbClr val="333333"/>
                </a:solidFill>
                <a:latin typeface="FreeSans"/>
              </a:rPr>
              <a:t> </a:t>
            </a:r>
            <a:r>
              <a:rPr lang="en-US" sz="1800" b="0" i="0" u="none" strike="noStrike" baseline="0" dirty="0" err="1">
                <a:solidFill>
                  <a:srgbClr val="333333"/>
                </a:solidFill>
                <a:latin typeface="FreeSans"/>
              </a:rPr>
              <a:t>despre</a:t>
            </a:r>
            <a:r>
              <a:rPr lang="en-US" sz="1800" b="0" i="0" u="none" strike="noStrike" baseline="0" dirty="0">
                <a:solidFill>
                  <a:srgbClr val="333333"/>
                </a:solidFill>
                <a:latin typeface="FreeSans"/>
              </a:rPr>
              <a:t> </a:t>
            </a:r>
            <a:r>
              <a:rPr lang="en-US" sz="1800" b="0" i="0" u="none" strike="noStrike" baseline="0" dirty="0" err="1">
                <a:solidFill>
                  <a:srgbClr val="333333"/>
                </a:solidFill>
                <a:latin typeface="FreeSans"/>
              </a:rPr>
              <a:t>cetățenie</a:t>
            </a:r>
            <a:r>
              <a:rPr lang="en-US" sz="1800" b="0" i="0" u="none" strike="noStrike" baseline="0" dirty="0">
                <a:solidFill>
                  <a:srgbClr val="333333"/>
                </a:solidFill>
                <a:latin typeface="FreeSans"/>
              </a:rPr>
              <a:t> </a:t>
            </a:r>
            <a:r>
              <a:rPr lang="en-US" sz="1800" b="0" i="0" u="none" strike="noStrike" baseline="0" dirty="0" err="1">
                <a:solidFill>
                  <a:srgbClr val="333333"/>
                </a:solidFill>
                <a:latin typeface="FreeSans"/>
              </a:rPr>
              <a:t>activă</a:t>
            </a:r>
            <a:r>
              <a:rPr lang="en-US" sz="1800" b="0" i="0" u="none" strike="noStrike" baseline="0" dirty="0">
                <a:solidFill>
                  <a:srgbClr val="333333"/>
                </a:solidFill>
                <a:latin typeface="FreeSans"/>
              </a:rPr>
              <a:t> </a:t>
            </a:r>
            <a:r>
              <a:rPr lang="en-US" sz="1800" b="0" i="0" u="none" strike="noStrike" baseline="0" dirty="0" err="1">
                <a:solidFill>
                  <a:srgbClr val="333333"/>
                </a:solidFill>
                <a:latin typeface="FreeSans"/>
              </a:rPr>
              <a:t>și</a:t>
            </a:r>
            <a:r>
              <a:rPr lang="en-US" sz="1800" b="0" i="0" u="none" strike="noStrike" baseline="0" dirty="0">
                <a:solidFill>
                  <a:srgbClr val="333333"/>
                </a:solidFill>
                <a:latin typeface="FreeSans"/>
              </a:rPr>
              <a:t> </a:t>
            </a:r>
            <a:r>
              <a:rPr lang="en-US" sz="1800" b="0" i="0" u="none" strike="noStrike" baseline="0" dirty="0" err="1">
                <a:solidFill>
                  <a:srgbClr val="333333"/>
                </a:solidFill>
                <a:latin typeface="FreeSans"/>
              </a:rPr>
              <a:t>implicare</a:t>
            </a:r>
            <a:r>
              <a:rPr lang="en-US" sz="1800" b="0" i="0" u="none" strike="noStrike" baseline="0" dirty="0">
                <a:solidFill>
                  <a:srgbClr val="333333"/>
                </a:solidFill>
                <a:latin typeface="FreeSans"/>
              </a:rPr>
              <a:t> </a:t>
            </a:r>
            <a:r>
              <a:rPr lang="en-US" sz="1800" b="0" i="0" u="none" strike="noStrike" baseline="0" dirty="0" err="1">
                <a:solidFill>
                  <a:srgbClr val="333333"/>
                </a:solidFill>
                <a:latin typeface="FreeSans"/>
              </a:rPr>
              <a:t>în</a:t>
            </a:r>
            <a:r>
              <a:rPr lang="en-US" sz="1800" b="0" i="0" u="none" strike="noStrike" baseline="0" dirty="0">
                <a:solidFill>
                  <a:srgbClr val="333333"/>
                </a:solidFill>
                <a:latin typeface="FreeSans"/>
              </a:rPr>
              <a:t> </a:t>
            </a:r>
            <a:r>
              <a:rPr lang="en-US" sz="1800" b="0" i="0" u="none" strike="noStrike" baseline="0" dirty="0" err="1">
                <a:solidFill>
                  <a:srgbClr val="333333"/>
                </a:solidFill>
                <a:latin typeface="FreeSans"/>
              </a:rPr>
              <a:t>comunitate</a:t>
            </a:r>
            <a:r>
              <a:rPr lang="en-US" sz="1800" b="0" i="0" u="none" strike="noStrike" baseline="0" dirty="0">
                <a:solidFill>
                  <a:srgbClr val="333333"/>
                </a:solidFill>
                <a:latin typeface="FreeSans"/>
              </a:rPr>
              <a:t>.</a:t>
            </a:r>
          </a:p>
          <a:p>
            <a:pPr algn="l"/>
            <a:endParaRPr lang="en-US" sz="1800" b="0" i="0" u="none" strike="noStrike" baseline="0" dirty="0">
              <a:solidFill>
                <a:srgbClr val="333333"/>
              </a:solidFill>
              <a:latin typeface="FreeSans"/>
            </a:endParaRPr>
          </a:p>
          <a:p>
            <a:pPr algn="l"/>
            <a:r>
              <a:rPr lang="en-US" sz="1800" b="0" i="0" u="none" strike="noStrike" baseline="0" dirty="0">
                <a:solidFill>
                  <a:srgbClr val="333333"/>
                </a:solidFill>
                <a:latin typeface="FreeSans"/>
              </a:rPr>
              <a:t>Am </a:t>
            </a:r>
            <a:r>
              <a:rPr lang="en-US" sz="1800" b="0" i="0" u="none" strike="noStrike" baseline="0" dirty="0" err="1">
                <a:solidFill>
                  <a:srgbClr val="333333"/>
                </a:solidFill>
                <a:latin typeface="FreeSans"/>
              </a:rPr>
              <a:t>participat</a:t>
            </a:r>
            <a:r>
              <a:rPr lang="en-US" sz="1800" b="0" i="0" u="none" strike="noStrike" baseline="0" dirty="0">
                <a:solidFill>
                  <a:srgbClr val="333333"/>
                </a:solidFill>
                <a:latin typeface="FreeSans"/>
              </a:rPr>
              <a:t> la o </a:t>
            </a:r>
            <a:r>
              <a:rPr lang="en-US" sz="1800" b="0" i="0" u="none" strike="noStrike" baseline="0" dirty="0" err="1">
                <a:solidFill>
                  <a:srgbClr val="333333"/>
                </a:solidFill>
                <a:latin typeface="FreeSans"/>
              </a:rPr>
              <a:t>sesiune</a:t>
            </a:r>
            <a:r>
              <a:rPr lang="en-US" sz="1800" b="0" i="0" u="none" strike="noStrike" baseline="0" dirty="0">
                <a:solidFill>
                  <a:srgbClr val="333333"/>
                </a:solidFill>
                <a:latin typeface="FreeSans"/>
              </a:rPr>
              <a:t> de </a:t>
            </a:r>
            <a:r>
              <a:rPr lang="en-US" sz="1800" b="0" i="0" u="none" strike="noStrike" baseline="0" dirty="0" err="1">
                <a:solidFill>
                  <a:srgbClr val="333333"/>
                </a:solidFill>
                <a:latin typeface="FreeSans"/>
              </a:rPr>
              <a:t>reflecție</a:t>
            </a:r>
            <a:r>
              <a:rPr lang="en-US" sz="1800" b="0" i="0" u="none" strike="noStrike" baseline="0" dirty="0">
                <a:solidFill>
                  <a:srgbClr val="333333"/>
                </a:solidFill>
                <a:latin typeface="FreeSans"/>
              </a:rPr>
              <a:t> </a:t>
            </a:r>
            <a:r>
              <a:rPr lang="en-US" sz="1800" b="0" i="0" u="none" strike="noStrike" baseline="0" dirty="0" err="1">
                <a:solidFill>
                  <a:srgbClr val="333333"/>
                </a:solidFill>
                <a:latin typeface="FreeSans"/>
              </a:rPr>
              <a:t>asupra</a:t>
            </a:r>
            <a:r>
              <a:rPr lang="en-US" sz="1800" b="0" i="0" u="none" strike="noStrike" baseline="0" dirty="0">
                <a:solidFill>
                  <a:srgbClr val="333333"/>
                </a:solidFill>
                <a:latin typeface="FreeSans"/>
              </a:rPr>
              <a:t> </a:t>
            </a:r>
            <a:r>
              <a:rPr lang="en-US" sz="1800" b="0" i="0" u="none" strike="noStrike" baseline="0" dirty="0" err="1">
                <a:solidFill>
                  <a:srgbClr val="333333"/>
                </a:solidFill>
                <a:latin typeface="FreeSans"/>
              </a:rPr>
              <a:t>competențelor</a:t>
            </a:r>
            <a:r>
              <a:rPr lang="en-US" sz="1800" b="0" i="0" u="none" strike="noStrike" baseline="0" dirty="0">
                <a:solidFill>
                  <a:srgbClr val="333333"/>
                </a:solidFill>
                <a:latin typeface="FreeSans"/>
              </a:rPr>
              <a:t> </a:t>
            </a:r>
            <a:r>
              <a:rPr lang="en-US" sz="1800" b="0" i="0" u="none" strike="noStrike" baseline="0" dirty="0" err="1">
                <a:solidFill>
                  <a:srgbClr val="333333"/>
                </a:solidFill>
                <a:latin typeface="FreeSans"/>
              </a:rPr>
              <a:t>dobândite</a:t>
            </a:r>
            <a:r>
              <a:rPr lang="en-US" sz="1800" b="0" i="0" u="none" strike="noStrike" baseline="0" dirty="0">
                <a:solidFill>
                  <a:srgbClr val="333333"/>
                </a:solidFill>
                <a:latin typeface="FreeSans"/>
              </a:rPr>
              <a:t> </a:t>
            </a:r>
            <a:r>
              <a:rPr lang="en-US" sz="1800" b="0" i="0" u="none" strike="noStrike" baseline="0" dirty="0" err="1">
                <a:solidFill>
                  <a:srgbClr val="333333"/>
                </a:solidFill>
                <a:latin typeface="FreeSans"/>
              </a:rPr>
              <a:t>și</a:t>
            </a:r>
            <a:r>
              <a:rPr lang="en-US" sz="1800" b="0" i="0" u="none" strike="noStrike" baseline="0" dirty="0">
                <a:solidFill>
                  <a:srgbClr val="333333"/>
                </a:solidFill>
                <a:latin typeface="FreeSans"/>
              </a:rPr>
              <a:t> la </a:t>
            </a:r>
            <a:r>
              <a:rPr lang="en-US" sz="1800" b="0" i="0" u="none" strike="noStrike" baseline="0" dirty="0" err="1">
                <a:solidFill>
                  <a:srgbClr val="333333"/>
                </a:solidFill>
                <a:latin typeface="FreeSans"/>
              </a:rPr>
              <a:t>elaborarea</a:t>
            </a:r>
            <a:r>
              <a:rPr lang="en-US" sz="1800" b="0" i="0" u="none" strike="noStrike" baseline="0" dirty="0">
                <a:solidFill>
                  <a:srgbClr val="333333"/>
                </a:solidFill>
                <a:latin typeface="FreeSans"/>
              </a:rPr>
              <a:t> </a:t>
            </a:r>
            <a:r>
              <a:rPr lang="en-US" sz="1800" b="0" i="0" u="none" strike="noStrike" baseline="0" dirty="0" err="1">
                <a:solidFill>
                  <a:srgbClr val="333333"/>
                </a:solidFill>
                <a:latin typeface="FreeSans"/>
              </a:rPr>
              <a:t>unui</a:t>
            </a:r>
            <a:r>
              <a:rPr lang="en-US" sz="1800" b="0" i="0" u="none" strike="noStrike" baseline="0" dirty="0">
                <a:solidFill>
                  <a:srgbClr val="333333"/>
                </a:solidFill>
                <a:latin typeface="FreeSans"/>
              </a:rPr>
              <a:t> plan de </a:t>
            </a:r>
            <a:r>
              <a:rPr lang="en-US" sz="1800" b="0" i="0" u="none" strike="noStrike" baseline="0" dirty="0" err="1">
                <a:solidFill>
                  <a:srgbClr val="333333"/>
                </a:solidFill>
                <a:latin typeface="FreeSans"/>
              </a:rPr>
              <a:t>acțiune</a:t>
            </a:r>
            <a:r>
              <a:rPr lang="en-US" sz="1800" b="0" i="0" u="none" strike="noStrike" baseline="0" dirty="0">
                <a:solidFill>
                  <a:srgbClr val="333333"/>
                </a:solidFill>
                <a:latin typeface="FreeSans"/>
              </a:rPr>
              <a:t> </a:t>
            </a:r>
            <a:r>
              <a:rPr lang="en-US" sz="1800" b="0" i="0" u="none" strike="noStrike" baseline="0" dirty="0" err="1">
                <a:solidFill>
                  <a:srgbClr val="333333"/>
                </a:solidFill>
                <a:latin typeface="FreeSans"/>
              </a:rPr>
              <a:t>pentru</a:t>
            </a:r>
            <a:r>
              <a:rPr lang="en-US" sz="1800" b="0" i="0" u="none" strike="noStrike" baseline="0" dirty="0">
                <a:solidFill>
                  <a:srgbClr val="333333"/>
                </a:solidFill>
                <a:latin typeface="FreeSans"/>
              </a:rPr>
              <a:t> a </a:t>
            </a:r>
            <a:r>
              <a:rPr lang="en-US" sz="1800" b="0" i="0" u="none" strike="noStrike" baseline="0" dirty="0" err="1">
                <a:solidFill>
                  <a:srgbClr val="333333"/>
                </a:solidFill>
                <a:latin typeface="FreeSans"/>
              </a:rPr>
              <a:t>transfera</a:t>
            </a:r>
            <a:r>
              <a:rPr lang="en-US" sz="1800" b="0" i="0" u="none" strike="noStrike" baseline="0" dirty="0">
                <a:solidFill>
                  <a:srgbClr val="333333"/>
                </a:solidFill>
                <a:latin typeface="FreeSans"/>
              </a:rPr>
              <a:t> </a:t>
            </a:r>
            <a:r>
              <a:rPr lang="en-US" sz="1800" b="0" i="0" u="none" strike="noStrike" baseline="0" dirty="0" err="1">
                <a:solidFill>
                  <a:srgbClr val="333333"/>
                </a:solidFill>
                <a:latin typeface="FreeSans"/>
              </a:rPr>
              <a:t>cunoștințele</a:t>
            </a:r>
            <a:r>
              <a:rPr lang="en-US" sz="1800" b="0" i="0" u="none" strike="noStrike" baseline="0" dirty="0">
                <a:solidFill>
                  <a:srgbClr val="333333"/>
                </a:solidFill>
                <a:latin typeface="FreeSans"/>
              </a:rPr>
              <a:t> </a:t>
            </a:r>
            <a:r>
              <a:rPr lang="en-US" sz="1800" b="0" i="0" u="none" strike="noStrike" baseline="0" dirty="0" err="1">
                <a:solidFill>
                  <a:srgbClr val="333333"/>
                </a:solidFill>
                <a:latin typeface="FreeSans"/>
              </a:rPr>
              <a:t>și</a:t>
            </a:r>
            <a:r>
              <a:rPr lang="en-US" sz="1800" b="0" i="0" u="none" strike="noStrike" baseline="0" dirty="0">
                <a:solidFill>
                  <a:srgbClr val="333333"/>
                </a:solidFill>
                <a:latin typeface="FreeSans"/>
              </a:rPr>
              <a:t> </a:t>
            </a:r>
            <a:r>
              <a:rPr lang="en-US" sz="1800" b="0" i="0" u="none" strike="noStrike" baseline="0" dirty="0" err="1">
                <a:solidFill>
                  <a:srgbClr val="333333"/>
                </a:solidFill>
                <a:latin typeface="FreeSans"/>
              </a:rPr>
              <a:t>practicile</a:t>
            </a:r>
            <a:r>
              <a:rPr lang="en-US" sz="1800" b="0" i="0" u="none" strike="noStrike" baseline="0" dirty="0">
                <a:solidFill>
                  <a:srgbClr val="333333"/>
                </a:solidFill>
                <a:latin typeface="FreeSans"/>
              </a:rPr>
              <a:t> </a:t>
            </a:r>
            <a:r>
              <a:rPr lang="en-US" sz="1800" b="0" i="0" u="none" strike="noStrike" baseline="0" dirty="0" err="1">
                <a:solidFill>
                  <a:srgbClr val="333333"/>
                </a:solidFill>
                <a:latin typeface="FreeSans"/>
              </a:rPr>
              <a:t>către</a:t>
            </a:r>
            <a:r>
              <a:rPr lang="en-US" sz="1800" b="0" i="0" u="none" strike="noStrike" baseline="0" dirty="0">
                <a:solidFill>
                  <a:srgbClr val="333333"/>
                </a:solidFill>
                <a:latin typeface="FreeSans"/>
              </a:rPr>
              <a:t> </a:t>
            </a:r>
            <a:r>
              <a:rPr lang="en-US" sz="1800" b="0" i="0" u="none" strike="noStrike" baseline="0" dirty="0" err="1">
                <a:solidFill>
                  <a:srgbClr val="333333"/>
                </a:solidFill>
                <a:latin typeface="FreeSans"/>
              </a:rPr>
              <a:t>asociația</a:t>
            </a:r>
            <a:r>
              <a:rPr lang="en-US" sz="1800" b="0" i="0" u="none" strike="noStrike" baseline="0" dirty="0">
                <a:solidFill>
                  <a:srgbClr val="333333"/>
                </a:solidFill>
                <a:latin typeface="FreeSans"/>
              </a:rPr>
              <a:t> </a:t>
            </a:r>
            <a:r>
              <a:rPr lang="en-US" sz="1800" b="0" i="0" u="none" strike="noStrike" baseline="0" dirty="0" err="1">
                <a:solidFill>
                  <a:srgbClr val="333333"/>
                </a:solidFill>
                <a:latin typeface="FreeSans"/>
              </a:rPr>
              <a:t>noastră</a:t>
            </a:r>
            <a:r>
              <a:rPr lang="en-US" sz="1800" b="0" i="0" u="none" strike="noStrike" baseline="0" dirty="0">
                <a:solidFill>
                  <a:srgbClr val="333333"/>
                </a:solidFill>
                <a:latin typeface="FreeSans"/>
              </a:rPr>
              <a:t>.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AD296D2-07BC-42C8-9B93-96732F24697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10606" y="207818"/>
            <a:ext cx="4029816" cy="164593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19999AD-DF7F-448F-843B-345CAAC8C8A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90604" y="207818"/>
            <a:ext cx="2793077" cy="16459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003576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3C0FDC-4A36-4A54-9C71-B529D14CBA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AB5B54E4-2F7D-44FA-AE8C-68C155E5751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51579" y="804519"/>
            <a:ext cx="4644421" cy="2420819"/>
          </a:xfr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B9305B3-6A74-4F11-9039-1A5AA8DC5C5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42610" y="804519"/>
            <a:ext cx="5054105" cy="2420819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14D0EB32-6FE2-445A-A35B-73BB29D7E20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51579" y="3429000"/>
            <a:ext cx="4644421" cy="247303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0898EF33-0BBC-414A-89CC-183FE12278E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42610" y="3291840"/>
            <a:ext cx="5054105" cy="26101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598899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A34CF8-E827-4984-8755-513FB0DD14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68C4BC37-A63B-428C-A91C-6E80741BFC0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01644" y="804519"/>
            <a:ext cx="4599517" cy="3449638"/>
          </a:xfr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013E317-8A9B-45F0-89C4-D903722240A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51096" y="804519"/>
            <a:ext cx="4753820" cy="34052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090348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6FF0D6-F728-46FB-9F01-E7675D5B80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37396B-0D61-4F47-A489-DDE83EE21FF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Vă</a:t>
            </a:r>
            <a:r>
              <a:rPr lang="en-US" dirty="0"/>
              <a:t> </a:t>
            </a:r>
            <a:r>
              <a:rPr lang="en-US" dirty="0" err="1"/>
              <a:t>mul</a:t>
            </a:r>
            <a:r>
              <a:rPr lang="en-US" sz="2000" b="0" i="0" u="none" strike="noStrike" baseline="0" dirty="0" err="1">
                <a:solidFill>
                  <a:srgbClr val="333333"/>
                </a:solidFill>
                <a:latin typeface="FreeSans"/>
              </a:rPr>
              <a:t>ț</a:t>
            </a:r>
            <a:r>
              <a:rPr lang="en-US" dirty="0" err="1"/>
              <a:t>umesc</a:t>
            </a:r>
            <a:r>
              <a:rPr lang="en-US" dirty="0"/>
              <a:t>!</a:t>
            </a:r>
          </a:p>
        </p:txBody>
      </p:sp>
    </p:spTree>
    <p:extLst>
      <p:ext uri="{BB962C8B-B14F-4D97-AF65-F5344CB8AC3E}">
        <p14:creationId xmlns:p14="http://schemas.microsoft.com/office/powerpoint/2010/main" val="4109723594"/>
      </p:ext>
    </p:extLst>
  </p:cSld>
  <p:clrMapOvr>
    <a:masterClrMapping/>
  </p:clrMapOvr>
</p:sld>
</file>

<file path=ppt/theme/theme1.xml><?xml version="1.0" encoding="utf-8"?>
<a:theme xmlns:a="http://schemas.openxmlformats.org/drawingml/2006/main" name="Gallery">
  <a:themeElements>
    <a:clrScheme name="Gallery">
      <a:dk1>
        <a:sysClr val="windowText" lastClr="000000"/>
      </a:dk1>
      <a:lt1>
        <a:sysClr val="window" lastClr="FFFFFF"/>
      </a:lt1>
      <a:dk2>
        <a:srgbClr val="454545"/>
      </a:dk2>
      <a:lt2>
        <a:srgbClr val="DFDBD5"/>
      </a:lt2>
      <a:accent1>
        <a:srgbClr val="B71E42"/>
      </a:accent1>
      <a:accent2>
        <a:srgbClr val="DE478E"/>
      </a:accent2>
      <a:accent3>
        <a:srgbClr val="BC72F0"/>
      </a:accent3>
      <a:accent4>
        <a:srgbClr val="795FAF"/>
      </a:accent4>
      <a:accent5>
        <a:srgbClr val="586EA6"/>
      </a:accent5>
      <a:accent6>
        <a:srgbClr val="6892A0"/>
      </a:accent6>
      <a:hlink>
        <a:srgbClr val="FA2B5C"/>
      </a:hlink>
      <a:folHlink>
        <a:srgbClr val="BC658E"/>
      </a:folHlink>
    </a:clrScheme>
    <a:fontScheme name="Gallery">
      <a:majorFont>
        <a:latin typeface="Gill Sans MT" panose="020B0502020104020203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Gallery">
      <a:fillStyleLst>
        <a:solidFill>
          <a:schemeClr val="phClr"/>
        </a:solidFill>
        <a:gradFill rotWithShape="1">
          <a:gsLst>
            <a:gs pos="0">
              <a:schemeClr val="phClr">
                <a:tint val="54000"/>
                <a:alpha val="100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8000"/>
                <a:satMod val="130000"/>
                <a:lumMod val="92000"/>
              </a:schemeClr>
            </a:gs>
            <a:gs pos="100000">
              <a:schemeClr val="phClr">
                <a:shade val="78000"/>
                <a:satMod val="130000"/>
                <a:lumMod val="92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50800" dir="5400000" sx="96000" sy="96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43000" r="43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allery" id="{BBFCD31E-59A1-489D-B089-A3EAD7CAE12E}" vid="{F5E91637-A7B6-4E27-B710-77DA7014EE1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TM04033927[[fn=Main Event]]</Template>
  <TotalTime>73</TotalTime>
  <Words>374</Words>
  <Application>Microsoft Office PowerPoint</Application>
  <PresentationFormat>Widescreen</PresentationFormat>
  <Paragraphs>25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6" baseType="lpstr">
      <vt:lpstr>Algerian</vt:lpstr>
      <vt:lpstr>Arial</vt:lpstr>
      <vt:lpstr>Century</vt:lpstr>
      <vt:lpstr>FreeSans</vt:lpstr>
      <vt:lpstr>Gill Sans MT</vt:lpstr>
      <vt:lpstr>Gallery</vt:lpstr>
      <vt:lpstr>“Include-i pe toți! Informează-i pe toți!   Investește în toți!”</vt:lpstr>
      <vt:lpstr>PowerPoint Presentation</vt:lpstr>
      <vt:lpstr>Job shadowing Vizela, Portugalia–  JEAD - ASSOCIAÇÃO DIGI-CULTURAL E RECREATIVA JOVENS NA EUROPA 7-11.07.2025</vt:lpstr>
      <vt:lpstr>ActivitATI</vt:lpstr>
      <vt:lpstr>ActivitATI</vt:lpstr>
      <vt:lpstr>ActivitATI</vt:lpstr>
      <vt:lpstr>ActivitATI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“Include-i pe toți! Informează-i pe toți!   Investește în toți!”</dc:title>
  <dc:creator>Adriana Udroiu</dc:creator>
  <cp:lastModifiedBy>Adriana Udroiu</cp:lastModifiedBy>
  <cp:revision>12</cp:revision>
  <dcterms:created xsi:type="dcterms:W3CDTF">2025-12-05T07:41:18Z</dcterms:created>
  <dcterms:modified xsi:type="dcterms:W3CDTF">2026-02-10T04:02:02Z</dcterms:modified>
</cp:coreProperties>
</file>