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70" r:id="rId3"/>
    <p:sldId id="273" r:id="rId4"/>
    <p:sldId id="274" r:id="rId5"/>
    <p:sldId id="275" r:id="rId6"/>
    <p:sldId id="276" r:id="rId7"/>
    <p:sldId id="272" r:id="rId8"/>
    <p:sldId id="271" r:id="rId9"/>
    <p:sldId id="257" r:id="rId10"/>
    <p:sldId id="258" r:id="rId11"/>
    <p:sldId id="260" r:id="rId12"/>
    <p:sldId id="261" r:id="rId13"/>
    <p:sldId id="262" r:id="rId14"/>
    <p:sldId id="263" r:id="rId15"/>
    <p:sldId id="264" r:id="rId16"/>
    <p:sldId id="265" r:id="rId17"/>
    <p:sldId id="266" r:id="rId18"/>
    <p:sldId id="267" r:id="rId19"/>
    <p:sldId id="26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5" autoAdjust="0"/>
    <p:restoredTop sz="94624" autoAdjust="0"/>
  </p:normalViewPr>
  <p:slideViewPr>
    <p:cSldViewPr snapToGrid="0">
      <p:cViewPr varScale="1">
        <p:scale>
          <a:sx n="67" d="100"/>
          <a:sy n="67" d="100"/>
        </p:scale>
        <p:origin x="756" y="60"/>
      </p:cViewPr>
      <p:guideLst>
        <p:guide orient="horz" pos="2160"/>
        <p:guide pos="3840"/>
      </p:guideLst>
    </p:cSldViewPr>
  </p:slideViewPr>
  <p:outlineViewPr>
    <p:cViewPr>
      <p:scale>
        <a:sx n="33" d="100"/>
        <a:sy n="33" d="100"/>
      </p:scale>
      <p:origin x="42" y="891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142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1318540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3653314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657181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937459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4231796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1516598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226657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9707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Date Placeholder 2"/>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367291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4293137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945424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607456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7967667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17654413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1718732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E446BB-A5CC-406D-A939-50E22CB2FBD3}" type="datetimeFigureOut">
              <a:rPr lang="en-US" smtClean="0"/>
              <a:pPr/>
              <a:t>12/22/2023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874801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2FE446BB-A5CC-406D-A939-50E22CB2FBD3}" type="datetimeFigureOut">
              <a:rPr lang="en-US" smtClean="0"/>
              <a:pPr/>
              <a:t>12/22/2023</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1E270507-3402-4673-97B5-88C97BF86A2D}" type="slidenum">
              <a:rPr lang="en-US" smtClean="0"/>
              <a:pPr/>
              <a:t>‹#›</a:t>
            </a:fld>
            <a:endParaRPr lang="en-US"/>
          </a:p>
        </p:txBody>
      </p:sp>
    </p:spTree>
    <p:extLst>
      <p:ext uri="{BB962C8B-B14F-4D97-AF65-F5344CB8AC3E}">
        <p14:creationId xmlns:p14="http://schemas.microsoft.com/office/powerpoint/2010/main" val="2894595618"/>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voltairemdi.weebly.com/about.html" TargetMode="External"/><Relationship Id="rId2" Type="http://schemas.openxmlformats.org/officeDocument/2006/relationships/hyperlink" Target="https://www.liceulvoltaire.ro/pagini/Anunt%20selectie%20Motiveaza%20Dezvolta%20Implica.pdf" TargetMode="External"/><Relationship Id="rId1" Type="http://schemas.openxmlformats.org/officeDocument/2006/relationships/slideLayout" Target="../slideLayouts/slideLayout2.xml"/><Relationship Id="rId4" Type="http://schemas.openxmlformats.org/officeDocument/2006/relationships/hyperlink" Target="https://www.facebook.com/profile.php?id=100089035595164"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voltaire-app-euu.weebly.com/?fbclid=IwAR2XfBPw6IC6dHttQbc9QaAO_a0-6TFg4ZVTu1F6lGTEz2Io-3cZ5r15lxY" TargetMode="Externa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8446" y="643597"/>
            <a:ext cx="8001000" cy="2971801"/>
          </a:xfrm>
        </p:spPr>
        <p:txBody>
          <a:bodyPr/>
          <a:lstStyle/>
          <a:p>
            <a:r>
              <a:rPr lang="en-US" dirty="0"/>
              <a:t>"Voltaire parents' and teachers' </a:t>
            </a:r>
            <a:r>
              <a:rPr lang="en-US" dirty="0" smtClean="0"/>
              <a:t>association“, Craiova, Romania</a:t>
            </a:r>
            <a:endParaRPr lang="en-US" dirty="0"/>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cstate="print">
            <a:lum contrast="40000"/>
            <a:extLst>
              <a:ext uri="{28A0092B-C50C-407E-A947-70E740481C1C}">
                <a14:useLocalDpi xmlns:a14="http://schemas.microsoft.com/office/drawing/2010/main" val="0"/>
              </a:ext>
            </a:extLst>
          </a:blip>
          <a:stretch>
            <a:fillRect/>
          </a:stretch>
        </p:blipFill>
        <p:spPr>
          <a:xfrm rot="5400000">
            <a:off x="8680739" y="3209199"/>
            <a:ext cx="3133195" cy="355170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0668441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84676" y="207497"/>
            <a:ext cx="2644727" cy="720972"/>
          </a:xfrm>
          <a:prstGeom prst="rect">
            <a:avLst/>
          </a:prstGeom>
          <a:noFill/>
          <a:ln>
            <a:noFill/>
          </a:ln>
        </p:spPr>
      </p:pic>
      <p:sp>
        <p:nvSpPr>
          <p:cNvPr id="11" name="Title 1"/>
          <p:cNvSpPr>
            <a:spLocks noGrp="1"/>
          </p:cNvSpPr>
          <p:nvPr>
            <p:ph type="title"/>
          </p:nvPr>
        </p:nvSpPr>
        <p:spPr>
          <a:xfrm>
            <a:off x="-1" y="5632287"/>
            <a:ext cx="11929403" cy="1225713"/>
          </a:xfrm>
        </p:spPr>
        <p:txBody>
          <a:bodyPr>
            <a:normAutofit/>
          </a:bodyPr>
          <a:lstStyle/>
          <a:p>
            <a:r>
              <a:rPr lang="en-US" dirty="0" smtClean="0"/>
              <a:t>Our second Erasmus + project </a:t>
            </a:r>
            <a:br>
              <a:rPr lang="en-US" dirty="0" smtClean="0"/>
            </a:br>
            <a:r>
              <a:rPr lang="en-US" dirty="0" smtClean="0"/>
              <a:t>“Motivate! Develop! Involve!”</a:t>
            </a:r>
            <a:endParaRPr lang="en-US" dirty="0"/>
          </a:p>
        </p:txBody>
      </p:sp>
      <p:pic>
        <p:nvPicPr>
          <p:cNvPr id="3" name="Content Placeholder 2"/>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578437" y="1171575"/>
            <a:ext cx="4386263" cy="3614738"/>
          </a:xfr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3625" y="1171575"/>
            <a:ext cx="4610100" cy="3614738"/>
          </a:xfrm>
          <a:prstGeom prst="rect">
            <a:avLst/>
          </a:prstGeom>
        </p:spPr>
      </p:pic>
    </p:spTree>
    <p:extLst>
      <p:ext uri="{BB962C8B-B14F-4D97-AF65-F5344CB8AC3E}">
        <p14:creationId xmlns:p14="http://schemas.microsoft.com/office/powerpoint/2010/main" val="42371347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“Motivate! </a:t>
            </a:r>
            <a:r>
              <a:rPr lang="en-US" dirty="0" err="1" smtClean="0"/>
              <a:t>DeVELOP</a:t>
            </a:r>
            <a:r>
              <a:rPr lang="en-US" dirty="0" smtClean="0"/>
              <a:t>! INVOLVE!”</a:t>
            </a:r>
            <a:endParaRPr lang="en-US" dirty="0"/>
          </a:p>
        </p:txBody>
      </p:sp>
      <p:sp>
        <p:nvSpPr>
          <p:cNvPr id="3" name="Content Placeholder 2"/>
          <p:cNvSpPr>
            <a:spLocks noGrp="1"/>
          </p:cNvSpPr>
          <p:nvPr>
            <p:ph idx="1"/>
          </p:nvPr>
        </p:nvSpPr>
        <p:spPr/>
        <p:txBody>
          <a:bodyPr/>
          <a:lstStyle/>
          <a:p>
            <a:r>
              <a:rPr lang="en-US" b="1" dirty="0" smtClean="0"/>
              <a:t>Our project “Motivate! Develop! Involve!” </a:t>
            </a:r>
          </a:p>
          <a:p>
            <a:r>
              <a:rPr lang="en-US" b="1" dirty="0" smtClean="0">
                <a:solidFill>
                  <a:srgbClr val="000000"/>
                </a:solidFill>
                <a:latin typeface="Verdana" panose="020B0604030504040204" pitchFamily="34" charset="0"/>
              </a:rPr>
              <a:t>No. 2022-1-RO01-KA122-ADU-000079766</a:t>
            </a:r>
          </a:p>
          <a:p>
            <a:r>
              <a:rPr lang="en-US" dirty="0" smtClean="0">
                <a:solidFill>
                  <a:srgbClr val="000000"/>
                </a:solidFill>
                <a:latin typeface="Verdana" panose="020B0604030504040204" pitchFamily="34" charset="0"/>
              </a:rPr>
              <a:t>Has the following objectives:</a:t>
            </a:r>
          </a:p>
          <a:p>
            <a:r>
              <a:rPr lang="en-US" dirty="0">
                <a:solidFill>
                  <a:srgbClr val="000000"/>
                </a:solidFill>
                <a:latin typeface="Verdana" panose="020B0604030504040204" pitchFamily="34" charset="0"/>
              </a:rPr>
              <a:t>Training of mentoring skills in the activity with adults</a:t>
            </a:r>
          </a:p>
          <a:p>
            <a:r>
              <a:rPr lang="en-US" dirty="0">
                <a:solidFill>
                  <a:srgbClr val="000000"/>
                </a:solidFill>
                <a:latin typeface="Verdana" panose="020B0604030504040204" pitchFamily="34" charset="0"/>
              </a:rPr>
              <a:t>The acquisition of methods and strategies of motivation and self-motivation</a:t>
            </a:r>
          </a:p>
          <a:p>
            <a:r>
              <a:rPr lang="en-US" dirty="0">
                <a:solidFill>
                  <a:srgbClr val="000000"/>
                </a:solidFill>
                <a:latin typeface="Verdana" panose="020B0604030504040204" pitchFamily="34" charset="0"/>
              </a:rPr>
              <a:t>Reducing the socio-professional differences between the members of the association</a:t>
            </a:r>
            <a:endParaRPr lang="en-US" dirty="0" smtClean="0">
              <a:solidFill>
                <a:srgbClr val="000000"/>
              </a:solidFill>
              <a:latin typeface="Verdana" panose="020B0604030504040204" pitchFamily="34" charset="0"/>
            </a:endParaRPr>
          </a:p>
          <a:p>
            <a:endParaRPr lang="en-US" dirty="0" smtClean="0">
              <a:solidFill>
                <a:srgbClr val="000000"/>
              </a:solidFill>
              <a:latin typeface="Verdana" panose="020B0604030504040204" pitchFamily="34" charset="0"/>
            </a:endParaRPr>
          </a:p>
          <a:p>
            <a:endParaRPr lang="en-US" dirty="0"/>
          </a:p>
        </p:txBody>
      </p:sp>
    </p:spTree>
    <p:extLst>
      <p:ext uri="{BB962C8B-B14F-4D97-AF65-F5344CB8AC3E}">
        <p14:creationId xmlns:p14="http://schemas.microsoft.com/office/powerpoint/2010/main" val="995678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Motivate! </a:t>
            </a:r>
            <a:r>
              <a:rPr lang="en-US" dirty="0" err="1"/>
              <a:t>DeVELOP</a:t>
            </a:r>
            <a:r>
              <a:rPr lang="en-US" dirty="0"/>
              <a:t>! INVOLVE!”</a:t>
            </a:r>
          </a:p>
        </p:txBody>
      </p:sp>
      <p:sp>
        <p:nvSpPr>
          <p:cNvPr id="3" name="Content Placeholder 2"/>
          <p:cNvSpPr>
            <a:spLocks noGrp="1"/>
          </p:cNvSpPr>
          <p:nvPr>
            <p:ph idx="1"/>
          </p:nvPr>
        </p:nvSpPr>
        <p:spPr/>
        <p:txBody>
          <a:bodyPr/>
          <a:lstStyle/>
          <a:p>
            <a:r>
              <a:rPr lang="en-US" dirty="0"/>
              <a:t>The project will run for a period of 17 months, between 01/06/2022 and 31/10/2023</a:t>
            </a:r>
          </a:p>
          <a:p>
            <a:r>
              <a:rPr lang="en-US" dirty="0"/>
              <a:t>The financing will be in the maximum amount of 14,395.00 EURO</a:t>
            </a:r>
          </a:p>
          <a:p>
            <a:endParaRPr lang="en-US" dirty="0"/>
          </a:p>
          <a:p>
            <a:endParaRPr lang="en-US" dirty="0"/>
          </a:p>
        </p:txBody>
      </p:sp>
    </p:spTree>
    <p:extLst>
      <p:ext uri="{BB962C8B-B14F-4D97-AF65-F5344CB8AC3E}">
        <p14:creationId xmlns:p14="http://schemas.microsoft.com/office/powerpoint/2010/main" val="2850609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Motivate! </a:t>
            </a:r>
            <a:r>
              <a:rPr lang="en-US" dirty="0" err="1"/>
              <a:t>DeVELOP</a:t>
            </a:r>
            <a:r>
              <a:rPr lang="en-US" dirty="0"/>
              <a:t>! INVOLVE!”</a:t>
            </a:r>
          </a:p>
        </p:txBody>
      </p:sp>
      <p:sp>
        <p:nvSpPr>
          <p:cNvPr id="3" name="Content Placeholder 2"/>
          <p:cNvSpPr>
            <a:spLocks noGrp="1"/>
          </p:cNvSpPr>
          <p:nvPr>
            <p:ph idx="1"/>
          </p:nvPr>
        </p:nvSpPr>
        <p:spPr/>
        <p:txBody>
          <a:bodyPr/>
          <a:lstStyle/>
          <a:p>
            <a:r>
              <a:rPr lang="en-US" dirty="0" smtClean="0"/>
              <a:t>Training courses:</a:t>
            </a:r>
          </a:p>
          <a:p>
            <a:r>
              <a:rPr lang="en-US" dirty="0" smtClean="0"/>
              <a:t>“Emotional </a:t>
            </a:r>
            <a:r>
              <a:rPr lang="en-US" dirty="0"/>
              <a:t>intelligence and coaching skills for teachers, school and adult education staff" course </a:t>
            </a:r>
            <a:r>
              <a:rPr lang="en-US" dirty="0" smtClean="0"/>
              <a:t>-provider</a:t>
            </a:r>
            <a:r>
              <a:rPr lang="en-US" dirty="0"/>
              <a:t>: Erasmus Learning Academy, 7 days, Bologna, Italy-2 participants</a:t>
            </a:r>
          </a:p>
          <a:p>
            <a:r>
              <a:rPr lang="en-US" dirty="0"/>
              <a:t>"Lifelong Learning: Elements of Wisdom" course </a:t>
            </a:r>
            <a:r>
              <a:rPr lang="en-US" dirty="0" smtClean="0"/>
              <a:t>-provider</a:t>
            </a:r>
            <a:r>
              <a:rPr lang="en-US" dirty="0"/>
              <a:t>: </a:t>
            </a:r>
            <a:r>
              <a:rPr lang="en-US" dirty="0" err="1"/>
              <a:t>Idevelop</a:t>
            </a:r>
            <a:r>
              <a:rPr lang="en-US" dirty="0"/>
              <a:t> Training SL, 5 days, </a:t>
            </a:r>
            <a:r>
              <a:rPr lang="en-US" dirty="0" err="1" smtClean="0"/>
              <a:t>Sevilla</a:t>
            </a:r>
            <a:r>
              <a:rPr lang="en-US" dirty="0"/>
              <a:t>, </a:t>
            </a:r>
            <a:r>
              <a:rPr lang="en-US" dirty="0" smtClean="0"/>
              <a:t>Spain </a:t>
            </a:r>
            <a:r>
              <a:rPr lang="en-US" dirty="0"/>
              <a:t>- 2 participants</a:t>
            </a:r>
          </a:p>
          <a:p>
            <a:r>
              <a:rPr lang="en-US" dirty="0"/>
              <a:t>The course "Adult Educator's Role in a New Reality" </a:t>
            </a:r>
            <a:r>
              <a:rPr lang="en-US" dirty="0" smtClean="0"/>
              <a:t>-provider</a:t>
            </a:r>
            <a:r>
              <a:rPr lang="en-US" dirty="0"/>
              <a:t>: </a:t>
            </a:r>
            <a:r>
              <a:rPr lang="en-US" dirty="0" err="1"/>
              <a:t>VitaTim</a:t>
            </a:r>
            <a:r>
              <a:rPr lang="en-US" dirty="0"/>
              <a:t>, 5 days </a:t>
            </a:r>
            <a:r>
              <a:rPr lang="en-US" dirty="0" smtClean="0"/>
              <a:t>Corfu, Greece </a:t>
            </a:r>
            <a:r>
              <a:rPr lang="en-US" dirty="0"/>
              <a:t>- 3 participants</a:t>
            </a:r>
          </a:p>
        </p:txBody>
      </p:sp>
    </p:spTree>
    <p:extLst>
      <p:ext uri="{BB962C8B-B14F-4D97-AF65-F5344CB8AC3E}">
        <p14:creationId xmlns:p14="http://schemas.microsoft.com/office/powerpoint/2010/main" val="330811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Motivate! </a:t>
            </a:r>
            <a:r>
              <a:rPr lang="en-US" dirty="0" err="1"/>
              <a:t>DeVELOP</a:t>
            </a:r>
            <a:r>
              <a:rPr lang="en-US" dirty="0"/>
              <a:t>! INVOLVE!”</a:t>
            </a:r>
          </a:p>
        </p:txBody>
      </p:sp>
      <p:sp>
        <p:nvSpPr>
          <p:cNvPr id="3" name="Content Placeholder 2"/>
          <p:cNvSpPr>
            <a:spLocks noGrp="1"/>
          </p:cNvSpPr>
          <p:nvPr>
            <p:ph idx="1"/>
          </p:nvPr>
        </p:nvSpPr>
        <p:spPr/>
        <p:txBody>
          <a:bodyPr/>
          <a:lstStyle/>
          <a:p>
            <a:r>
              <a:rPr lang="en-US" u="sng" dirty="0" smtClean="0">
                <a:hlinkClick r:id="rId2"/>
              </a:rPr>
              <a:t>Information about our Erasmus+ project</a:t>
            </a:r>
          </a:p>
          <a:p>
            <a:r>
              <a:rPr lang="en-US" dirty="0" smtClean="0">
                <a:hlinkClick r:id="rId2"/>
              </a:rPr>
              <a:t>https</a:t>
            </a:r>
            <a:r>
              <a:rPr lang="en-US" dirty="0">
                <a:hlinkClick r:id="rId2"/>
              </a:rPr>
              <a:t>://www.liceulvoltaire.ro/pagini/Anunt%20selectie%20Motiveaza%20Dezvolta%20Implica.pdf</a:t>
            </a:r>
            <a:endParaRPr lang="en-US" dirty="0"/>
          </a:p>
          <a:p>
            <a:r>
              <a:rPr lang="en-US" dirty="0">
                <a:hlinkClick r:id="rId3"/>
              </a:rPr>
              <a:t>https://voltairemdi.weebly.com/about.html</a:t>
            </a:r>
            <a:endParaRPr lang="en-US" dirty="0"/>
          </a:p>
          <a:p>
            <a:r>
              <a:rPr lang="en-US" dirty="0">
                <a:hlinkClick r:id="rId4"/>
              </a:rPr>
              <a:t>https://www.facebook.com/profile.php?id=100089035595164</a:t>
            </a:r>
            <a:endParaRPr lang="en-US" dirty="0"/>
          </a:p>
          <a:p>
            <a:endParaRPr lang="en-US" dirty="0"/>
          </a:p>
        </p:txBody>
      </p:sp>
    </p:spTree>
    <p:extLst>
      <p:ext uri="{BB962C8B-B14F-4D97-AF65-F5344CB8AC3E}">
        <p14:creationId xmlns:p14="http://schemas.microsoft.com/office/powerpoint/2010/main" val="2459376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"Empower, Update, Upgrade",</a:t>
            </a:r>
          </a:p>
        </p:txBody>
      </p:sp>
      <p:sp>
        <p:nvSpPr>
          <p:cNvPr id="3" name="Content Placeholder 2"/>
          <p:cNvSpPr>
            <a:spLocks noGrp="1"/>
          </p:cNvSpPr>
          <p:nvPr>
            <p:ph idx="1"/>
          </p:nvPr>
        </p:nvSpPr>
        <p:spPr/>
        <p:txBody>
          <a:bodyPr/>
          <a:lstStyle/>
          <a:p>
            <a:r>
              <a:rPr lang="en-US" dirty="0" smtClean="0"/>
              <a:t>Our first Erasmus+ project</a:t>
            </a:r>
            <a:endParaRPr lang="en-US" dirty="0"/>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73760" y="0"/>
            <a:ext cx="4118240" cy="5828720"/>
          </a:xfrm>
          <a:prstGeom prst="rect">
            <a:avLst/>
          </a:prstGeom>
          <a:scene3d>
            <a:camera prst="orthographicFront"/>
            <a:lightRig rig="threePt" dir="t"/>
          </a:scene3d>
          <a:sp3d>
            <a:bevelT/>
          </a:sp3d>
        </p:spPr>
      </p:pic>
    </p:spTree>
    <p:extLst>
      <p:ext uri="{BB962C8B-B14F-4D97-AF65-F5344CB8AC3E}">
        <p14:creationId xmlns:p14="http://schemas.microsoft.com/office/powerpoint/2010/main" val="3260999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First Erasmus + project</a:t>
            </a:r>
            <a:endParaRPr lang="en-US" dirty="0"/>
          </a:p>
        </p:txBody>
      </p:sp>
      <p:sp>
        <p:nvSpPr>
          <p:cNvPr id="3" name="Content Placeholder 2"/>
          <p:cNvSpPr>
            <a:spLocks noGrp="1"/>
          </p:cNvSpPr>
          <p:nvPr>
            <p:ph idx="1"/>
          </p:nvPr>
        </p:nvSpPr>
        <p:spPr/>
        <p:txBody>
          <a:bodyPr/>
          <a:lstStyle/>
          <a:p>
            <a:r>
              <a:rPr lang="en-US" dirty="0"/>
              <a:t>The project "Empower, Update, Upgrade", submitted </a:t>
            </a:r>
            <a:r>
              <a:rPr lang="en-US" dirty="0" smtClean="0"/>
              <a:t>at </a:t>
            </a:r>
            <a:r>
              <a:rPr lang="en-US" dirty="0"/>
              <a:t>the deadline of February 5, 2020, extended to February 11, 2020, by </a:t>
            </a:r>
            <a:r>
              <a:rPr lang="en-US" dirty="0" smtClean="0"/>
              <a:t>Voltaire Parents’ </a:t>
            </a:r>
            <a:r>
              <a:rPr lang="en-US" dirty="0"/>
              <a:t>and </a:t>
            </a:r>
            <a:r>
              <a:rPr lang="en-US" dirty="0" smtClean="0"/>
              <a:t>Teachers’ Association was </a:t>
            </a:r>
            <a:r>
              <a:rPr lang="en-US" dirty="0"/>
              <a:t>approved with no. 2020-1-RO01-KA104-07958.</a:t>
            </a:r>
          </a:p>
          <a:p>
            <a:r>
              <a:rPr lang="en-US" dirty="0"/>
              <a:t>The general objective of the project </a:t>
            </a:r>
            <a:r>
              <a:rPr lang="en-US" dirty="0" smtClean="0"/>
              <a:t>was </a:t>
            </a:r>
            <a:r>
              <a:rPr lang="en-US" dirty="0"/>
              <a:t>to </a:t>
            </a:r>
            <a:r>
              <a:rPr lang="en-US" dirty="0" smtClean="0"/>
              <a:t>make </a:t>
            </a:r>
            <a:r>
              <a:rPr lang="en-US" dirty="0"/>
              <a:t>the collaboration </a:t>
            </a:r>
            <a:r>
              <a:rPr lang="en-US" dirty="0" smtClean="0"/>
              <a:t>among </a:t>
            </a:r>
            <a:r>
              <a:rPr lang="en-US" dirty="0"/>
              <a:t>the members of the Voltaire </a:t>
            </a:r>
            <a:r>
              <a:rPr lang="en-US" dirty="0" smtClean="0"/>
              <a:t>Parents’ </a:t>
            </a:r>
            <a:r>
              <a:rPr lang="en-US" dirty="0"/>
              <a:t>and </a:t>
            </a:r>
            <a:r>
              <a:rPr lang="en-US" dirty="0" smtClean="0"/>
              <a:t>Teachers’ </a:t>
            </a:r>
            <a:r>
              <a:rPr lang="en-US" dirty="0"/>
              <a:t>Association </a:t>
            </a:r>
            <a:r>
              <a:rPr lang="en-US" dirty="0" smtClean="0"/>
              <a:t>more efficient and also between </a:t>
            </a:r>
            <a:r>
              <a:rPr lang="en-US" dirty="0"/>
              <a:t>the association and the community.</a:t>
            </a:r>
          </a:p>
          <a:p>
            <a:endParaRPr lang="en-US" dirty="0"/>
          </a:p>
        </p:txBody>
      </p:sp>
      <p:pic>
        <p:nvPicPr>
          <p:cNvPr id="4" name="Image 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39187" y="284508"/>
            <a:ext cx="2105025" cy="668020"/>
          </a:xfrm>
          <a:prstGeom prst="rect">
            <a:avLst/>
          </a:prstGeom>
          <a:noFill/>
          <a:ln>
            <a:noFill/>
          </a:ln>
        </p:spPr>
      </p:pic>
    </p:spTree>
    <p:extLst>
      <p:ext uri="{BB962C8B-B14F-4D97-AF65-F5344CB8AC3E}">
        <p14:creationId xmlns:p14="http://schemas.microsoft.com/office/powerpoint/2010/main" val="24032086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us</a:t>
            </a:r>
            <a:endParaRPr lang="en-US" dirty="0"/>
          </a:p>
        </p:txBody>
      </p:sp>
      <p:sp>
        <p:nvSpPr>
          <p:cNvPr id="3" name="Content Placeholder 2"/>
          <p:cNvSpPr>
            <a:spLocks noGrp="1"/>
          </p:cNvSpPr>
          <p:nvPr>
            <p:ph idx="1"/>
          </p:nvPr>
        </p:nvSpPr>
        <p:spPr>
          <a:xfrm>
            <a:off x="684213" y="685800"/>
            <a:ext cx="6645056" cy="4448908"/>
          </a:xfrm>
        </p:spPr>
        <p:txBody>
          <a:bodyPr>
            <a:normAutofit lnSpcReduction="10000"/>
          </a:bodyPr>
          <a:lstStyle/>
          <a:p>
            <a:endParaRPr lang="en-US" dirty="0" smtClean="0"/>
          </a:p>
          <a:p>
            <a:endParaRPr lang="en-US" dirty="0"/>
          </a:p>
          <a:p>
            <a:r>
              <a:rPr lang="en-US" sz="2400" dirty="0" smtClean="0"/>
              <a:t>"</a:t>
            </a:r>
            <a:r>
              <a:rPr lang="en-US" sz="2400" dirty="0"/>
              <a:t>Voltaire parents' and teachers' association" is a young association, founded in 2017, at the initiative of 8 people </a:t>
            </a:r>
            <a:r>
              <a:rPr lang="en-US" sz="2400" dirty="0" smtClean="0"/>
              <a:t>-4 </a:t>
            </a:r>
            <a:r>
              <a:rPr lang="en-US" sz="2400" dirty="0"/>
              <a:t>teachers and 4 parents of the students from </a:t>
            </a:r>
            <a:r>
              <a:rPr lang="en-US" sz="2400" dirty="0" smtClean="0"/>
              <a:t>"Voltaire</a:t>
            </a:r>
            <a:r>
              <a:rPr lang="en-US" sz="2400" dirty="0"/>
              <a:t>" High </a:t>
            </a:r>
            <a:r>
              <a:rPr lang="en-US" sz="2400" dirty="0" smtClean="0"/>
              <a:t>School.</a:t>
            </a:r>
            <a:endParaRPr lang="en-US" sz="2400" dirty="0"/>
          </a:p>
          <a:p>
            <a:r>
              <a:rPr lang="en-US" sz="2400" dirty="0" smtClean="0"/>
              <a:t>All the teachers of Voltaire High school (32 </a:t>
            </a:r>
            <a:r>
              <a:rPr lang="en-US" sz="2400" dirty="0"/>
              <a:t>teachers) and </a:t>
            </a:r>
            <a:r>
              <a:rPr lang="en-US" sz="2400" dirty="0" smtClean="0"/>
              <a:t>all the parents </a:t>
            </a:r>
            <a:r>
              <a:rPr lang="en-US" sz="2400" dirty="0"/>
              <a:t>of </a:t>
            </a:r>
            <a:r>
              <a:rPr lang="en-US" sz="2400" dirty="0" smtClean="0"/>
              <a:t>the students </a:t>
            </a:r>
            <a:r>
              <a:rPr lang="en-US" sz="2400" dirty="0"/>
              <a:t>of "Voltaire" High School </a:t>
            </a:r>
            <a:r>
              <a:rPr lang="en-US" sz="2400" dirty="0" smtClean="0"/>
              <a:t>(more than 300) are part </a:t>
            </a:r>
            <a:r>
              <a:rPr lang="en-US" sz="2400" dirty="0"/>
              <a:t>of the association</a:t>
            </a:r>
            <a:r>
              <a:rPr lang="en-US" dirty="0"/>
              <a:t>.</a:t>
            </a:r>
          </a:p>
          <a:p>
            <a:endParaRPr lang="en-US" dirty="0"/>
          </a:p>
          <a:p>
            <a:endParaRPr lang="en-US" dirty="0" smtClean="0"/>
          </a:p>
          <a:p>
            <a:endParaRPr lang="en-US" dirty="0"/>
          </a:p>
        </p:txBody>
      </p:sp>
      <p:pic>
        <p:nvPicPr>
          <p:cNvPr id="6" name="Picture 5" descr="IMG_5444.JPG"/>
          <p:cNvPicPr>
            <a:picLocks noChangeAspect="1"/>
          </p:cNvPicPr>
          <p:nvPr/>
        </p:nvPicPr>
        <p:blipFill>
          <a:blip r:embed="rId2" cstate="print"/>
          <a:srcRect t="16000" r="24199" b="6667"/>
          <a:stretch>
            <a:fillRect/>
          </a:stretch>
        </p:blipFill>
        <p:spPr>
          <a:xfrm>
            <a:off x="7038182" y="1252024"/>
            <a:ext cx="4736477" cy="322150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48440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us</a:t>
            </a:r>
            <a:endParaRPr lang="en-US" dirty="0"/>
          </a:p>
        </p:txBody>
      </p:sp>
      <p:sp>
        <p:nvSpPr>
          <p:cNvPr id="3" name="Content Placeholder 2"/>
          <p:cNvSpPr>
            <a:spLocks noGrp="1"/>
          </p:cNvSpPr>
          <p:nvPr>
            <p:ph idx="1"/>
          </p:nvPr>
        </p:nvSpPr>
        <p:spPr>
          <a:xfrm>
            <a:off x="684211" y="685799"/>
            <a:ext cx="9416392" cy="4434841"/>
          </a:xfrm>
        </p:spPr>
        <p:txBody>
          <a:bodyPr>
            <a:normAutofit/>
          </a:bodyPr>
          <a:lstStyle/>
          <a:p>
            <a:r>
              <a:rPr lang="en-US" dirty="0"/>
              <a:t>From the </a:t>
            </a:r>
            <a:r>
              <a:rPr lang="en-US" dirty="0" smtClean="0"/>
              <a:t>beginning, according </a:t>
            </a:r>
            <a:r>
              <a:rPr lang="en-US" dirty="0"/>
              <a:t>to the management plan of the association, its purpose was to create a close partnership among </a:t>
            </a:r>
            <a:r>
              <a:rPr lang="en-US" dirty="0" smtClean="0"/>
              <a:t>students, parents</a:t>
            </a:r>
            <a:r>
              <a:rPr lang="en-US" dirty="0"/>
              <a:t>, teachers of the "Voltaire" High School, the Ministry of Education and </a:t>
            </a:r>
            <a:r>
              <a:rPr lang="ro-RO" dirty="0" smtClean="0"/>
              <a:t>R</a:t>
            </a:r>
            <a:r>
              <a:rPr lang="en-US" dirty="0" err="1" smtClean="0"/>
              <a:t>esearch</a:t>
            </a:r>
            <a:r>
              <a:rPr lang="en-US" dirty="0"/>
              <a:t>, </a:t>
            </a:r>
            <a:r>
              <a:rPr lang="en-US" dirty="0" err="1"/>
              <a:t>Dolj</a:t>
            </a:r>
            <a:r>
              <a:rPr lang="en-US" dirty="0"/>
              <a:t> </a:t>
            </a:r>
            <a:r>
              <a:rPr lang="ro-RO" dirty="0" smtClean="0"/>
              <a:t>C</a:t>
            </a:r>
            <a:r>
              <a:rPr lang="en-US" dirty="0" err="1" smtClean="0"/>
              <a:t>ounty</a:t>
            </a:r>
            <a:r>
              <a:rPr lang="en-US" dirty="0" smtClean="0"/>
              <a:t> </a:t>
            </a:r>
            <a:r>
              <a:rPr lang="ro-RO" dirty="0" smtClean="0"/>
              <a:t>S</a:t>
            </a:r>
            <a:r>
              <a:rPr lang="en-US" dirty="0" err="1" smtClean="0"/>
              <a:t>chool</a:t>
            </a:r>
            <a:r>
              <a:rPr lang="en-US" dirty="0" smtClean="0"/>
              <a:t> Inspectorate, other </a:t>
            </a:r>
            <a:r>
              <a:rPr lang="en-US" dirty="0"/>
              <a:t>local, national and international educational </a:t>
            </a:r>
            <a:r>
              <a:rPr lang="en-US" dirty="0" smtClean="0"/>
              <a:t>units, </a:t>
            </a:r>
            <a:r>
              <a:rPr lang="en-US" dirty="0"/>
              <a:t>other public institutions, </a:t>
            </a:r>
            <a:r>
              <a:rPr lang="en-US" dirty="0" smtClean="0"/>
              <a:t>educational </a:t>
            </a:r>
            <a:r>
              <a:rPr lang="en-US" dirty="0"/>
              <a:t>unions and other national </a:t>
            </a:r>
            <a:r>
              <a:rPr lang="en-US" dirty="0" smtClean="0"/>
              <a:t>and international </a:t>
            </a:r>
            <a:r>
              <a:rPr lang="en-US" dirty="0"/>
              <a:t>organizations/associations</a:t>
            </a:r>
            <a:r>
              <a:rPr lang="en-US" dirty="0" smtClean="0"/>
              <a:t>.</a:t>
            </a:r>
            <a:endParaRPr lang="ro-RO" dirty="0" smtClean="0"/>
          </a:p>
          <a:p>
            <a:r>
              <a:rPr lang="en-US" dirty="0" smtClean="0"/>
              <a:t>The partnership underlying the functioning of the association aims to support the modernization of the teaching act by continuously improving the teaching staff with teaching methods, learning, innovative evaluation and increasing the quality of education, in accordance with the European Union standards. </a:t>
            </a:r>
          </a:p>
          <a:p>
            <a:endParaRPr lang="en-US" dirty="0"/>
          </a:p>
        </p:txBody>
      </p:sp>
    </p:spTree>
    <p:extLst>
      <p:ext uri="{BB962C8B-B14F-4D97-AF65-F5344CB8AC3E}">
        <p14:creationId xmlns:p14="http://schemas.microsoft.com/office/powerpoint/2010/main" val="40523785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us</a:t>
            </a:r>
            <a:endParaRPr lang="en-US" dirty="0"/>
          </a:p>
        </p:txBody>
      </p:sp>
      <p:sp>
        <p:nvSpPr>
          <p:cNvPr id="3" name="Content Placeholder 2"/>
          <p:cNvSpPr>
            <a:spLocks noGrp="1"/>
          </p:cNvSpPr>
          <p:nvPr>
            <p:ph idx="1"/>
          </p:nvPr>
        </p:nvSpPr>
        <p:spPr>
          <a:xfrm>
            <a:off x="684213" y="685799"/>
            <a:ext cx="7840810" cy="4491112"/>
          </a:xfrm>
        </p:spPr>
        <p:txBody>
          <a:bodyPr>
            <a:normAutofit/>
          </a:bodyPr>
          <a:lstStyle/>
          <a:p>
            <a:r>
              <a:rPr lang="en-US" sz="2400" dirty="0" smtClean="0"/>
              <a:t>Also, the </a:t>
            </a:r>
            <a:r>
              <a:rPr lang="en-US" sz="2400" dirty="0"/>
              <a:t>partnership promotes the interests of students, parents and teachers as a unitary whole, cultivating a </a:t>
            </a:r>
            <a:r>
              <a:rPr lang="en-US" sz="2400" dirty="0" smtClean="0"/>
              <a:t>partnership relationship </a:t>
            </a:r>
            <a:r>
              <a:rPr lang="en-US" sz="2400" dirty="0"/>
              <a:t>among them, including </a:t>
            </a:r>
            <a:r>
              <a:rPr lang="en-US" sz="2400" dirty="0" smtClean="0"/>
              <a:t>the </a:t>
            </a:r>
            <a:r>
              <a:rPr lang="en-US" sz="2400" dirty="0"/>
              <a:t>financial </a:t>
            </a:r>
            <a:r>
              <a:rPr lang="en-US" sz="2400" dirty="0" smtClean="0"/>
              <a:t>support</a:t>
            </a:r>
            <a:r>
              <a:rPr lang="ro-RO" sz="2400" dirty="0" smtClean="0"/>
              <a:t> </a:t>
            </a:r>
            <a:r>
              <a:rPr lang="en-US" sz="2400" dirty="0" smtClean="0"/>
              <a:t>for students with outstanding results in various competitions schools, Olympics and for students from disadvantaged families.</a:t>
            </a:r>
          </a:p>
          <a:p>
            <a:r>
              <a:rPr lang="en-US" sz="2400" dirty="0" smtClean="0"/>
              <a:t>In addition</a:t>
            </a:r>
            <a:r>
              <a:rPr lang="en-US" sz="2400" dirty="0"/>
              <a:t>, this collaboration aims to involve parents in all aspects of the educational life of the school.</a:t>
            </a:r>
          </a:p>
          <a:p>
            <a:endParaRPr lang="en-US" dirty="0"/>
          </a:p>
        </p:txBody>
      </p:sp>
      <p:pic>
        <p:nvPicPr>
          <p:cNvPr id="4" name="Picture 3" descr="martis.jpg"/>
          <p:cNvPicPr>
            <a:picLocks noChangeAspect="1"/>
          </p:cNvPicPr>
          <p:nvPr/>
        </p:nvPicPr>
        <p:blipFill>
          <a:blip r:embed="rId2" cstate="print"/>
          <a:stretch>
            <a:fillRect/>
          </a:stretch>
        </p:blipFill>
        <p:spPr>
          <a:xfrm>
            <a:off x="8495128" y="773332"/>
            <a:ext cx="3239379" cy="43191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4455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activities</a:t>
            </a:r>
            <a:endParaRPr lang="en-US" dirty="0"/>
          </a:p>
        </p:txBody>
      </p:sp>
      <p:sp>
        <p:nvSpPr>
          <p:cNvPr id="3" name="Content Placeholder 2"/>
          <p:cNvSpPr>
            <a:spLocks noGrp="1"/>
          </p:cNvSpPr>
          <p:nvPr>
            <p:ph idx="1"/>
          </p:nvPr>
        </p:nvSpPr>
        <p:spPr>
          <a:xfrm>
            <a:off x="337626" y="953086"/>
            <a:ext cx="11422966" cy="4083148"/>
          </a:xfrm>
        </p:spPr>
        <p:txBody>
          <a:bodyPr>
            <a:normAutofit fontScale="92500" lnSpcReduction="10000"/>
          </a:bodyPr>
          <a:lstStyle/>
          <a:p>
            <a:r>
              <a:rPr lang="en-US" dirty="0">
                <a:solidFill>
                  <a:schemeClr val="bg1"/>
                </a:solidFill>
              </a:rPr>
              <a:t>Among the activities of parents and teachers who are members of the association carried out since its </a:t>
            </a:r>
            <a:r>
              <a:rPr lang="en-US" dirty="0" smtClean="0">
                <a:solidFill>
                  <a:schemeClr val="bg1"/>
                </a:solidFill>
              </a:rPr>
              <a:t>beginning, </a:t>
            </a:r>
            <a:r>
              <a:rPr lang="en-US" dirty="0">
                <a:solidFill>
                  <a:schemeClr val="bg1"/>
                </a:solidFill>
              </a:rPr>
              <a:t>we mention </a:t>
            </a:r>
            <a:r>
              <a:rPr lang="en-US" dirty="0" smtClean="0">
                <a:solidFill>
                  <a:schemeClr val="bg1"/>
                </a:solidFill>
              </a:rPr>
              <a:t>only some </a:t>
            </a:r>
            <a:r>
              <a:rPr lang="en-US" dirty="0">
                <a:solidFill>
                  <a:schemeClr val="bg1"/>
                </a:solidFill>
              </a:rPr>
              <a:t>of the most important: </a:t>
            </a:r>
            <a:endParaRPr lang="en-US" dirty="0" smtClean="0">
              <a:solidFill>
                <a:schemeClr val="bg1"/>
              </a:solidFill>
            </a:endParaRPr>
          </a:p>
          <a:p>
            <a:r>
              <a:rPr lang="en-US" dirty="0" smtClean="0">
                <a:solidFill>
                  <a:schemeClr val="bg1"/>
                </a:solidFill>
              </a:rPr>
              <a:t>- </a:t>
            </a:r>
            <a:r>
              <a:rPr lang="en-US" dirty="0">
                <a:solidFill>
                  <a:schemeClr val="bg1"/>
                </a:solidFill>
              </a:rPr>
              <a:t>Cultural activities in </a:t>
            </a:r>
            <a:r>
              <a:rPr lang="en-US" dirty="0" smtClean="0">
                <a:solidFill>
                  <a:schemeClr val="bg1"/>
                </a:solidFill>
              </a:rPr>
              <a:t>the European </a:t>
            </a:r>
            <a:r>
              <a:rPr lang="en-US" dirty="0">
                <a:solidFill>
                  <a:schemeClr val="bg1"/>
                </a:solidFill>
              </a:rPr>
              <a:t>projects </a:t>
            </a:r>
            <a:r>
              <a:rPr lang="en-US" dirty="0" smtClean="0">
                <a:solidFill>
                  <a:schemeClr val="bg1"/>
                </a:solidFill>
              </a:rPr>
              <a:t>of Voltaire High </a:t>
            </a:r>
            <a:r>
              <a:rPr lang="en-US" dirty="0">
                <a:solidFill>
                  <a:schemeClr val="bg1"/>
                </a:solidFill>
              </a:rPr>
              <a:t>school </a:t>
            </a:r>
            <a:r>
              <a:rPr lang="en-US" dirty="0" smtClean="0">
                <a:solidFill>
                  <a:schemeClr val="bg1"/>
                </a:solidFill>
              </a:rPr>
              <a:t>in </a:t>
            </a:r>
            <a:r>
              <a:rPr lang="en-US" dirty="0">
                <a:solidFill>
                  <a:schemeClr val="bg1"/>
                </a:solidFill>
              </a:rPr>
              <a:t>which students, teachers and </a:t>
            </a:r>
            <a:r>
              <a:rPr lang="en-US" dirty="0" smtClean="0">
                <a:solidFill>
                  <a:schemeClr val="bg1"/>
                </a:solidFill>
              </a:rPr>
              <a:t>parents collaborated </a:t>
            </a:r>
            <a:r>
              <a:rPr lang="en-US" dirty="0">
                <a:solidFill>
                  <a:schemeClr val="bg1"/>
                </a:solidFill>
              </a:rPr>
              <a:t>with international partners - students and teachers from partner countries, for example, Erasmus + </a:t>
            </a:r>
            <a:r>
              <a:rPr lang="en-US" dirty="0" smtClean="0">
                <a:solidFill>
                  <a:schemeClr val="bg1"/>
                </a:solidFill>
              </a:rPr>
              <a:t>projects „Discovering </a:t>
            </a:r>
            <a:r>
              <a:rPr lang="en-US" dirty="0">
                <a:solidFill>
                  <a:schemeClr val="bg1"/>
                </a:solidFill>
              </a:rPr>
              <a:t>the European cultural heritage through the 5 senses”, „Educated and active citizenship”, „</a:t>
            </a:r>
            <a:r>
              <a:rPr lang="en-US" dirty="0" err="1" smtClean="0">
                <a:solidFill>
                  <a:schemeClr val="bg1"/>
                </a:solidFill>
              </a:rPr>
              <a:t>Terapi</a:t>
            </a:r>
            <a:r>
              <a:rPr lang="en-US" dirty="0" smtClean="0">
                <a:solidFill>
                  <a:schemeClr val="bg1"/>
                </a:solidFill>
              </a:rPr>
              <a:t>”</a:t>
            </a:r>
            <a:endParaRPr lang="ro-RO" dirty="0" smtClean="0">
              <a:solidFill>
                <a:schemeClr val="bg1"/>
              </a:solidFill>
            </a:endParaRPr>
          </a:p>
          <a:p>
            <a:pPr>
              <a:buNone/>
            </a:pPr>
            <a:endParaRPr lang="en-US" dirty="0" smtClean="0">
              <a:solidFill>
                <a:schemeClr val="bg1"/>
              </a:solidFill>
            </a:endParaRPr>
          </a:p>
          <a:p>
            <a:pPr>
              <a:buNone/>
            </a:pPr>
            <a:r>
              <a:rPr lang="ro-RO" dirty="0" smtClean="0">
                <a:solidFill>
                  <a:schemeClr val="bg1"/>
                </a:solidFill>
              </a:rPr>
              <a:t>			</a:t>
            </a:r>
            <a:r>
              <a:rPr lang="en-US" dirty="0" err="1" smtClean="0">
                <a:solidFill>
                  <a:schemeClr val="bg1"/>
                </a:solidFill>
              </a:rPr>
              <a:t>Facebook</a:t>
            </a:r>
            <a:r>
              <a:rPr lang="en-US" dirty="0" smtClean="0">
                <a:solidFill>
                  <a:schemeClr val="bg1"/>
                </a:solidFill>
              </a:rPr>
              <a:t>-https</a:t>
            </a:r>
            <a:r>
              <a:rPr lang="en-US" dirty="0">
                <a:solidFill>
                  <a:schemeClr val="bg1"/>
                </a:solidFill>
              </a:rPr>
              <a:t>://</a:t>
            </a:r>
            <a:r>
              <a:rPr lang="en-US" dirty="0" smtClean="0">
                <a:solidFill>
                  <a:schemeClr val="bg1"/>
                </a:solidFill>
              </a:rPr>
              <a:t>www.facebook.com/Empower-Update-Upgrade-</a:t>
            </a:r>
            <a:r>
              <a:rPr lang="ro-RO" dirty="0" smtClean="0">
                <a:solidFill>
                  <a:schemeClr val="bg1"/>
                </a:solidFill>
              </a:rPr>
              <a:t> </a:t>
            </a:r>
          </a:p>
          <a:p>
            <a:pPr>
              <a:buNone/>
            </a:pPr>
            <a:r>
              <a:rPr lang="ro-RO" dirty="0" smtClean="0">
                <a:solidFill>
                  <a:schemeClr val="bg1"/>
                </a:solidFill>
              </a:rPr>
              <a:t>                                                             </a:t>
            </a:r>
            <a:r>
              <a:rPr lang="en-US" dirty="0" smtClean="0">
                <a:solidFill>
                  <a:schemeClr val="bg1"/>
                </a:solidFill>
              </a:rPr>
              <a:t>100303178471028</a:t>
            </a:r>
            <a:endParaRPr lang="en-US" dirty="0">
              <a:solidFill>
                <a:schemeClr val="bg1"/>
              </a:solidFill>
            </a:endParaRPr>
          </a:p>
          <a:p>
            <a:pPr>
              <a:buNone/>
            </a:pPr>
            <a:r>
              <a:rPr lang="ro-RO" dirty="0" smtClean="0">
                <a:solidFill>
                  <a:schemeClr val="bg1"/>
                </a:solidFill>
              </a:rPr>
              <a:t>               </a:t>
            </a:r>
            <a:r>
              <a:rPr lang="en-US" dirty="0" smtClean="0">
                <a:solidFill>
                  <a:schemeClr val="bg1"/>
                </a:solidFill>
              </a:rPr>
              <a:t>Website project-</a:t>
            </a:r>
            <a:r>
              <a:rPr lang="en-US" dirty="0" smtClean="0">
                <a:solidFill>
                  <a:schemeClr val="bg1"/>
                </a:solidFill>
                <a:hlinkClick r:id="rId2"/>
              </a:rPr>
              <a:t>https</a:t>
            </a:r>
            <a:r>
              <a:rPr lang="en-US" dirty="0">
                <a:solidFill>
                  <a:schemeClr val="bg1"/>
                </a:solidFill>
                <a:hlinkClick r:id="rId2"/>
              </a:rPr>
              <a:t>://voltaire-app-euu.weebly.com/</a:t>
            </a:r>
            <a:r>
              <a:rPr lang="en-US" dirty="0">
                <a:solidFill>
                  <a:schemeClr val="bg1"/>
                </a:solidFill>
              </a:rPr>
              <a:t>.</a:t>
            </a:r>
          </a:p>
          <a:p>
            <a:pPr>
              <a:buNone/>
            </a:pPr>
            <a:r>
              <a:rPr lang="ro-RO" dirty="0" smtClean="0">
                <a:solidFill>
                  <a:schemeClr val="bg1"/>
                </a:solidFill>
              </a:rPr>
              <a:t>                </a:t>
            </a:r>
            <a:r>
              <a:rPr lang="en-US" dirty="0" smtClean="0">
                <a:solidFill>
                  <a:schemeClr val="bg1"/>
                </a:solidFill>
              </a:rPr>
              <a:t>http</a:t>
            </a:r>
            <a:r>
              <a:rPr lang="en-US" dirty="0">
                <a:solidFill>
                  <a:schemeClr val="bg1"/>
                </a:solidFill>
              </a:rPr>
              <a:t>://www.liceulvoltaire.ro/pagini/proiecte.htm</a:t>
            </a:r>
          </a:p>
          <a:p>
            <a:endParaRPr lang="en-US" dirty="0"/>
          </a:p>
        </p:txBody>
      </p:sp>
      <p:pic>
        <p:nvPicPr>
          <p:cNvPr id="4" name="Image 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18612" y="258658"/>
            <a:ext cx="2105025" cy="668020"/>
          </a:xfrm>
          <a:prstGeom prst="rect">
            <a:avLst/>
          </a:prstGeom>
          <a:noFill/>
          <a:ln>
            <a:noFill/>
          </a:ln>
        </p:spPr>
      </p:pic>
      <p:pic>
        <p:nvPicPr>
          <p:cNvPr id="5" name="Picture 4" descr="download.png"/>
          <p:cNvPicPr>
            <a:picLocks noChangeAspect="1"/>
          </p:cNvPicPr>
          <p:nvPr/>
        </p:nvPicPr>
        <p:blipFill>
          <a:blip r:embed="rId4"/>
          <a:stretch>
            <a:fillRect/>
          </a:stretch>
        </p:blipFill>
        <p:spPr>
          <a:xfrm>
            <a:off x="648287" y="3215568"/>
            <a:ext cx="568641" cy="568641"/>
          </a:xfrm>
          <a:prstGeom prst="rect">
            <a:avLst/>
          </a:prstGeom>
        </p:spPr>
      </p:pic>
      <p:pic>
        <p:nvPicPr>
          <p:cNvPr id="6" name="Picture 5" descr="go-to-web-icon-trendy-flat-style-isolated-grey-background-website-pictogram-internet-symbol-your-web-site-design-logo-137568495.jpg"/>
          <p:cNvPicPr>
            <a:picLocks noChangeAspect="1"/>
          </p:cNvPicPr>
          <p:nvPr/>
        </p:nvPicPr>
        <p:blipFill>
          <a:blip r:embed="rId5" cstate="print"/>
          <a:srcRect l="22500" t="18643" r="22115" b="29164"/>
          <a:stretch>
            <a:fillRect/>
          </a:stretch>
        </p:blipFill>
        <p:spPr>
          <a:xfrm>
            <a:off x="657645" y="3938954"/>
            <a:ext cx="678785" cy="675250"/>
          </a:xfrm>
          <a:prstGeom prst="rect">
            <a:avLst/>
          </a:prstGeom>
        </p:spPr>
      </p:pic>
    </p:spTree>
    <p:extLst>
      <p:ext uri="{BB962C8B-B14F-4D97-AF65-F5344CB8AC3E}">
        <p14:creationId xmlns:p14="http://schemas.microsoft.com/office/powerpoint/2010/main" val="18462108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activities</a:t>
            </a:r>
            <a:endParaRPr lang="en-US" dirty="0"/>
          </a:p>
        </p:txBody>
      </p:sp>
      <p:sp>
        <p:nvSpPr>
          <p:cNvPr id="3" name="Content Placeholder 2"/>
          <p:cNvSpPr>
            <a:spLocks noGrp="1"/>
          </p:cNvSpPr>
          <p:nvPr>
            <p:ph idx="1"/>
          </p:nvPr>
        </p:nvSpPr>
        <p:spPr>
          <a:xfrm>
            <a:off x="684211" y="685801"/>
            <a:ext cx="11259259" cy="2620108"/>
          </a:xfrm>
        </p:spPr>
        <p:txBody>
          <a:bodyPr/>
          <a:lstStyle/>
          <a:p>
            <a:r>
              <a:rPr lang="en-US" dirty="0"/>
              <a:t>“ World Cuisine ”- every school year, on the occasion of Voltaire </a:t>
            </a:r>
            <a:r>
              <a:rPr lang="en-US" dirty="0" err="1"/>
              <a:t>Highschool</a:t>
            </a:r>
            <a:r>
              <a:rPr lang="en-US" dirty="0"/>
              <a:t> Day, the association supports the activities organized within this special event, helping students to prepare traditional food and dress traditionally for a country that was won in a lottery (mostly European countries, but not only</a:t>
            </a:r>
            <a:r>
              <a:rPr lang="en-US" dirty="0" smtClean="0"/>
              <a:t>).</a:t>
            </a:r>
            <a:endParaRPr lang="en-US" dirty="0"/>
          </a:p>
          <a:p>
            <a:endParaRPr lang="en-US" dirty="0"/>
          </a:p>
        </p:txBody>
      </p:sp>
      <p:pic>
        <p:nvPicPr>
          <p:cNvPr id="5" name="Picture 4" descr="46493693_708648666200980_1605441689864896512_n.jpg"/>
          <p:cNvPicPr>
            <a:picLocks noChangeAspect="1"/>
          </p:cNvPicPr>
          <p:nvPr/>
        </p:nvPicPr>
        <p:blipFill>
          <a:blip r:embed="rId2"/>
          <a:stretch>
            <a:fillRect/>
          </a:stretch>
        </p:blipFill>
        <p:spPr>
          <a:xfrm>
            <a:off x="4431323" y="2616591"/>
            <a:ext cx="4843975" cy="363298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7828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activities</a:t>
            </a:r>
            <a:endParaRPr lang="en-US" dirty="0"/>
          </a:p>
        </p:txBody>
      </p:sp>
      <p:sp>
        <p:nvSpPr>
          <p:cNvPr id="3" name="Content Placeholder 2"/>
          <p:cNvSpPr>
            <a:spLocks noGrp="1"/>
          </p:cNvSpPr>
          <p:nvPr>
            <p:ph idx="1"/>
          </p:nvPr>
        </p:nvSpPr>
        <p:spPr>
          <a:xfrm>
            <a:off x="684212" y="685801"/>
            <a:ext cx="10949770" cy="1987062"/>
          </a:xfrm>
        </p:spPr>
        <p:txBody>
          <a:bodyPr>
            <a:normAutofit/>
          </a:bodyPr>
          <a:lstStyle/>
          <a:p>
            <a:r>
              <a:rPr lang="en-US" dirty="0"/>
              <a:t>Financial support for "Les </a:t>
            </a:r>
            <a:r>
              <a:rPr lang="en-US" dirty="0" err="1"/>
              <a:t>Ados</a:t>
            </a:r>
            <a:r>
              <a:rPr lang="en-US" dirty="0"/>
              <a:t> </a:t>
            </a:r>
            <a:r>
              <a:rPr lang="en-US" dirty="0" err="1"/>
              <a:t>cinephiles</a:t>
            </a:r>
            <a:r>
              <a:rPr lang="en-US" dirty="0"/>
              <a:t>" - a short film competition made by students </a:t>
            </a:r>
            <a:r>
              <a:rPr lang="en-US" dirty="0" smtClean="0"/>
              <a:t>at county </a:t>
            </a:r>
            <a:r>
              <a:rPr lang="en-US" dirty="0"/>
              <a:t>level, which promotes values ​​such as </a:t>
            </a:r>
            <a:r>
              <a:rPr lang="en-US" dirty="0" err="1"/>
              <a:t>interculturality</a:t>
            </a:r>
            <a:r>
              <a:rPr lang="en-US" dirty="0"/>
              <a:t> and social inclusion </a:t>
            </a:r>
            <a:endParaRPr lang="en-US" dirty="0" smtClean="0"/>
          </a:p>
          <a:p>
            <a:endParaRPr lang="en-US" dirty="0"/>
          </a:p>
          <a:p>
            <a:endParaRPr lang="en-US" dirty="0"/>
          </a:p>
        </p:txBody>
      </p:sp>
      <p:pic>
        <p:nvPicPr>
          <p:cNvPr id="5" name="Picture 4" descr="CRBF0394.JPG"/>
          <p:cNvPicPr>
            <a:picLocks noChangeAspect="1"/>
          </p:cNvPicPr>
          <p:nvPr/>
        </p:nvPicPr>
        <p:blipFill>
          <a:blip r:embed="rId2" cstate="print">
            <a:lum bright="10000" contrast="10000"/>
          </a:blip>
          <a:srcRect r="21180"/>
          <a:stretch>
            <a:fillRect/>
          </a:stretch>
        </p:blipFill>
        <p:spPr>
          <a:xfrm>
            <a:off x="4419011" y="1498209"/>
            <a:ext cx="6070797" cy="513470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65632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activities</a:t>
            </a:r>
            <a:endParaRPr lang="en-US" dirty="0"/>
          </a:p>
        </p:txBody>
      </p:sp>
      <p:sp>
        <p:nvSpPr>
          <p:cNvPr id="3" name="Content Placeholder 2"/>
          <p:cNvSpPr>
            <a:spLocks noGrp="1"/>
          </p:cNvSpPr>
          <p:nvPr>
            <p:ph idx="1"/>
          </p:nvPr>
        </p:nvSpPr>
        <p:spPr>
          <a:xfrm>
            <a:off x="684212" y="422032"/>
            <a:ext cx="11020108" cy="1645920"/>
          </a:xfrm>
        </p:spPr>
        <p:txBody>
          <a:bodyPr>
            <a:normAutofit fontScale="92500"/>
          </a:bodyPr>
          <a:lstStyle/>
          <a:p>
            <a:r>
              <a:rPr lang="en-US" dirty="0"/>
              <a:t>"</a:t>
            </a:r>
            <a:r>
              <a:rPr lang="en-US" dirty="0" err="1"/>
              <a:t>Euroscola</a:t>
            </a:r>
            <a:r>
              <a:rPr lang="en-US" dirty="0"/>
              <a:t>" 2019 - a competition for schools at national level in which students, parents and teachers actively participated in all types of educational activities which had as motto  "Stepping up skills" - which proved that learning can take place in all kinds of environments, for example a </a:t>
            </a:r>
            <a:r>
              <a:rPr lang="en-US" dirty="0" err="1"/>
              <a:t>Flashmob</a:t>
            </a:r>
            <a:r>
              <a:rPr lang="en-US" dirty="0"/>
              <a:t> in our city center attended by parents, teachers, students who danced synchronously on a song in the French language.</a:t>
            </a:r>
          </a:p>
          <a:p>
            <a:endParaRPr lang="en-US" dirty="0"/>
          </a:p>
        </p:txBody>
      </p:sp>
      <p:pic>
        <p:nvPicPr>
          <p:cNvPr id="4" name="Picture 3" descr="70997500_1617258605076602_211421427297943552_o.jpg"/>
          <p:cNvPicPr>
            <a:picLocks noChangeAspect="1"/>
          </p:cNvPicPr>
          <p:nvPr/>
        </p:nvPicPr>
        <p:blipFill>
          <a:blip r:embed="rId2">
            <a:lum bright="10000" contrast="10000"/>
          </a:blip>
          <a:srcRect l="11744" t="11527" b="5908"/>
          <a:stretch>
            <a:fillRect/>
          </a:stretch>
        </p:blipFill>
        <p:spPr>
          <a:xfrm>
            <a:off x="5148775" y="2124221"/>
            <a:ext cx="5744308" cy="403039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22807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3190" y="5176649"/>
            <a:ext cx="8534400" cy="1507067"/>
          </a:xfrm>
        </p:spPr>
        <p:txBody>
          <a:bodyPr/>
          <a:lstStyle/>
          <a:p>
            <a:r>
              <a:rPr lang="en-US" dirty="0" smtClean="0"/>
              <a:t>Our activities</a:t>
            </a:r>
            <a:endParaRPr lang="en-US" dirty="0"/>
          </a:p>
        </p:txBody>
      </p:sp>
      <p:sp>
        <p:nvSpPr>
          <p:cNvPr id="3" name="Content Placeholder 2"/>
          <p:cNvSpPr>
            <a:spLocks noGrp="1"/>
          </p:cNvSpPr>
          <p:nvPr>
            <p:ph idx="1"/>
          </p:nvPr>
        </p:nvSpPr>
        <p:spPr>
          <a:xfrm>
            <a:off x="684211" y="685801"/>
            <a:ext cx="10752823" cy="1972994"/>
          </a:xfrm>
        </p:spPr>
        <p:txBody>
          <a:bodyPr/>
          <a:lstStyle/>
          <a:p>
            <a:r>
              <a:rPr lang="en-US" dirty="0" smtClean="0"/>
              <a:t>Socialization </a:t>
            </a:r>
            <a:r>
              <a:rPr lang="en-US" dirty="0"/>
              <a:t>activities on the occasion of the 1st and 8th of March, when the parents were pleasantly surprised by the </a:t>
            </a:r>
            <a:r>
              <a:rPr lang="en-US" dirty="0" smtClean="0"/>
              <a:t>activities proposed </a:t>
            </a:r>
            <a:r>
              <a:rPr lang="en-US" dirty="0"/>
              <a:t>by the teachers of the association and their </a:t>
            </a:r>
            <a:r>
              <a:rPr lang="en-US" dirty="0" smtClean="0"/>
              <a:t>children.</a:t>
            </a:r>
            <a:endParaRPr lang="en-US" dirty="0"/>
          </a:p>
          <a:p>
            <a:endParaRPr lang="en-US" dirty="0"/>
          </a:p>
          <a:p>
            <a:endParaRPr lang="en-US" dirty="0"/>
          </a:p>
        </p:txBody>
      </p:sp>
      <p:pic>
        <p:nvPicPr>
          <p:cNvPr id="5" name="Picture 4" descr="8martie.jpg"/>
          <p:cNvPicPr>
            <a:picLocks noChangeAspect="1"/>
          </p:cNvPicPr>
          <p:nvPr/>
        </p:nvPicPr>
        <p:blipFill>
          <a:blip r:embed="rId2"/>
          <a:stretch>
            <a:fillRect/>
          </a:stretch>
        </p:blipFill>
        <p:spPr>
          <a:xfrm>
            <a:off x="2096086" y="1839352"/>
            <a:ext cx="7183902" cy="323275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3769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activities</a:t>
            </a:r>
            <a:endParaRPr lang="en-US" dirty="0"/>
          </a:p>
        </p:txBody>
      </p:sp>
      <p:sp>
        <p:nvSpPr>
          <p:cNvPr id="3" name="Content Placeholder 2"/>
          <p:cNvSpPr>
            <a:spLocks noGrp="1"/>
          </p:cNvSpPr>
          <p:nvPr>
            <p:ph idx="1"/>
          </p:nvPr>
        </p:nvSpPr>
        <p:spPr>
          <a:xfrm>
            <a:off x="684212" y="685801"/>
            <a:ext cx="11034176" cy="1227406"/>
          </a:xfrm>
        </p:spPr>
        <p:txBody>
          <a:bodyPr/>
          <a:lstStyle/>
          <a:p>
            <a:r>
              <a:rPr lang="en-US" dirty="0" smtClean="0"/>
              <a:t>Traditional </a:t>
            </a:r>
            <a:r>
              <a:rPr lang="en-US" dirty="0"/>
              <a:t>activities </a:t>
            </a:r>
            <a:r>
              <a:rPr lang="en-US" dirty="0" smtClean="0"/>
              <a:t>“La </a:t>
            </a:r>
            <a:r>
              <a:rPr lang="en-US" dirty="0" err="1" smtClean="0"/>
              <a:t>sezatoare</a:t>
            </a:r>
            <a:r>
              <a:rPr lang="en-US" dirty="0" smtClean="0"/>
              <a:t>" - an </a:t>
            </a:r>
            <a:r>
              <a:rPr lang="en-US" dirty="0"/>
              <a:t>intergenerational activity that </a:t>
            </a:r>
            <a:r>
              <a:rPr lang="en-US" dirty="0" smtClean="0"/>
              <a:t>had </a:t>
            </a:r>
            <a:r>
              <a:rPr lang="en-US" dirty="0"/>
              <a:t>the aim of </a:t>
            </a:r>
            <a:r>
              <a:rPr lang="en-US" dirty="0" smtClean="0"/>
              <a:t>showing the importance of preserving </a:t>
            </a:r>
            <a:r>
              <a:rPr lang="en-US" dirty="0"/>
              <a:t>the Romanian traditions and transmitting them to the new generation</a:t>
            </a:r>
          </a:p>
          <a:p>
            <a:endParaRPr lang="en-US" dirty="0"/>
          </a:p>
          <a:p>
            <a:endParaRPr lang="en-US" dirty="0"/>
          </a:p>
        </p:txBody>
      </p:sp>
      <p:pic>
        <p:nvPicPr>
          <p:cNvPr id="6" name="Picture 5" descr="78309556_1685065938295868_904224331024826368_o.jpg"/>
          <p:cNvPicPr>
            <a:picLocks noChangeAspect="1"/>
          </p:cNvPicPr>
          <p:nvPr/>
        </p:nvPicPr>
        <p:blipFill>
          <a:blip r:embed="rId2" cstate="print"/>
          <a:stretch>
            <a:fillRect/>
          </a:stretch>
        </p:blipFill>
        <p:spPr>
          <a:xfrm>
            <a:off x="4501661" y="1178169"/>
            <a:ext cx="6119447" cy="4589585"/>
          </a:xfrm>
          <a:prstGeom prst="rect">
            <a:avLst/>
          </a:prstGeom>
          <a:ln>
            <a:noFill/>
          </a:ln>
          <a:effectLst>
            <a:outerShdw blurRad="292100" dist="139700" dir="2700000" algn="tl" rotWithShape="0">
              <a:srgbClr val="333333">
                <a:alpha val="65000"/>
              </a:srgbClr>
            </a:outerShdw>
          </a:effectLst>
        </p:spPr>
      </p:pic>
      <p:pic>
        <p:nvPicPr>
          <p:cNvPr id="10" name="Picture 9" descr="186486137_2192930847509372_883789143472933526_n.jpg"/>
          <p:cNvPicPr>
            <a:picLocks noChangeAspect="1"/>
          </p:cNvPicPr>
          <p:nvPr/>
        </p:nvPicPr>
        <p:blipFill>
          <a:blip r:embed="rId3" cstate="print"/>
          <a:stretch>
            <a:fillRect/>
          </a:stretch>
        </p:blipFill>
        <p:spPr>
          <a:xfrm>
            <a:off x="1292761" y="1420837"/>
            <a:ext cx="2690446" cy="35872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20688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843" y="5176649"/>
            <a:ext cx="3761179" cy="1507067"/>
          </a:xfrm>
        </p:spPr>
        <p:txBody>
          <a:bodyPr/>
          <a:lstStyle/>
          <a:p>
            <a:r>
              <a:rPr lang="en-US" dirty="0" smtClean="0"/>
              <a:t>Our activities</a:t>
            </a:r>
            <a:endParaRPr lang="en-US" dirty="0"/>
          </a:p>
        </p:txBody>
      </p:sp>
      <p:sp>
        <p:nvSpPr>
          <p:cNvPr id="3" name="Content Placeholder 2"/>
          <p:cNvSpPr>
            <a:spLocks noGrp="1"/>
          </p:cNvSpPr>
          <p:nvPr>
            <p:ph idx="1"/>
          </p:nvPr>
        </p:nvSpPr>
        <p:spPr>
          <a:xfrm>
            <a:off x="407963" y="685801"/>
            <a:ext cx="11338559" cy="1100796"/>
          </a:xfrm>
        </p:spPr>
        <p:txBody>
          <a:bodyPr/>
          <a:lstStyle/>
          <a:p>
            <a:r>
              <a:rPr lang="en-US" dirty="0"/>
              <a:t>"Youth competition" that seeks to </a:t>
            </a:r>
            <a:r>
              <a:rPr lang="en-US" dirty="0" smtClean="0"/>
              <a:t>enhance intelligence </a:t>
            </a:r>
            <a:r>
              <a:rPr lang="en-US" dirty="0"/>
              <a:t>and creative potential of young people</a:t>
            </a:r>
          </a:p>
          <a:p>
            <a:endParaRPr lang="en-US" dirty="0"/>
          </a:p>
          <a:p>
            <a:endParaRPr lang="en-US" dirty="0"/>
          </a:p>
        </p:txBody>
      </p:sp>
      <p:pic>
        <p:nvPicPr>
          <p:cNvPr id="4" name="Picture 3" descr="18740073_713322268875248_8619288077172245503_n.jpg"/>
          <p:cNvPicPr>
            <a:picLocks noChangeAspect="1"/>
          </p:cNvPicPr>
          <p:nvPr/>
        </p:nvPicPr>
        <p:blipFill>
          <a:blip r:embed="rId2"/>
          <a:stretch>
            <a:fillRect/>
          </a:stretch>
        </p:blipFill>
        <p:spPr>
          <a:xfrm>
            <a:off x="3790656" y="1154722"/>
            <a:ext cx="7341578" cy="48943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18174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lum bright="-10000" contrast="40000"/>
            <a:extLst>
              <a:ext uri="{28A0092B-C50C-407E-A947-70E740481C1C}">
                <a14:useLocalDpi xmlns:a14="http://schemas.microsoft.com/office/drawing/2010/main" val="0"/>
              </a:ext>
            </a:extLst>
          </a:blip>
          <a:stretch>
            <a:fillRect/>
          </a:stretch>
        </p:blipFill>
        <p:spPr>
          <a:xfrm rot="5400000">
            <a:off x="3899462" y="1567196"/>
            <a:ext cx="3832090" cy="434395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6" name="Rectangle 5"/>
          <p:cNvSpPr/>
          <p:nvPr/>
        </p:nvSpPr>
        <p:spPr>
          <a:xfrm>
            <a:off x="2419643" y="796554"/>
            <a:ext cx="6935372" cy="584775"/>
          </a:xfrm>
          <a:prstGeom prst="rect">
            <a:avLst/>
          </a:prstGeom>
        </p:spPr>
        <p:txBody>
          <a:bodyPr wrap="square">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r>
              <a:rPr lang="en-US" sz="3200" b="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Thank you for your attention!</a:t>
            </a:r>
            <a:endParaRPr lang="en-US" sz="32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extLst>
      <p:ext uri="{BB962C8B-B14F-4D97-AF65-F5344CB8AC3E}">
        <p14:creationId xmlns:p14="http://schemas.microsoft.com/office/powerpoint/2010/main" val="4092634414"/>
      </p:ext>
    </p:extLst>
  </p:cSld>
  <p:clrMapOvr>
    <a:masterClrMapping/>
  </p:clrMapOvr>
  <p:timing>
    <p:tnLst>
      <p:par>
        <p:cTn id="1" dur="indefinite" restart="never" nodeType="tmRoot"/>
      </p:par>
    </p:tn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263</TotalTime>
  <Words>911</Words>
  <Application>Microsoft Office PowerPoint</Application>
  <PresentationFormat>Widescreen</PresentationFormat>
  <Paragraphs>60</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Century Gothic</vt:lpstr>
      <vt:lpstr>Verdana</vt:lpstr>
      <vt:lpstr>Wingdings 3</vt:lpstr>
      <vt:lpstr>Slice</vt:lpstr>
      <vt:lpstr>"Voltaire parents' and teachers' association“, Craiova, Romania</vt:lpstr>
      <vt:lpstr>Our second Erasmus + project  “Motivate! Develop! Involve!”</vt:lpstr>
      <vt:lpstr>“Motivate! DeVELOP! INVOLVE!”</vt:lpstr>
      <vt:lpstr>Motivate! DeVELOP! INVOLVE!”</vt:lpstr>
      <vt:lpstr>Motivate! DeVELOP! INVOLVE!”</vt:lpstr>
      <vt:lpstr>Motivate! DeVELOP! INVOLVE!”</vt:lpstr>
      <vt:lpstr>"Empower, Update, Upgrade",</vt:lpstr>
      <vt:lpstr>Our First Erasmus + project</vt:lpstr>
      <vt:lpstr>About us</vt:lpstr>
      <vt:lpstr>About us</vt:lpstr>
      <vt:lpstr>About us</vt:lpstr>
      <vt:lpstr>Our activities</vt:lpstr>
      <vt:lpstr>Our activities</vt:lpstr>
      <vt:lpstr>Our activities</vt:lpstr>
      <vt:lpstr>Our activities</vt:lpstr>
      <vt:lpstr>Our activities</vt:lpstr>
      <vt:lpstr>Our activities</vt:lpstr>
      <vt:lpstr>Our activities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"Voltaire parents' and teachers' association“, Craiova, Romania</dc:title>
  <dc:creator>Cosmin Udroiu</dc:creator>
  <cp:lastModifiedBy>Microsoft account</cp:lastModifiedBy>
  <cp:revision>32</cp:revision>
  <dcterms:created xsi:type="dcterms:W3CDTF">2021-07-31T03:02:50Z</dcterms:created>
  <dcterms:modified xsi:type="dcterms:W3CDTF">2023-12-22T08:27:19Z</dcterms:modified>
</cp:coreProperties>
</file>